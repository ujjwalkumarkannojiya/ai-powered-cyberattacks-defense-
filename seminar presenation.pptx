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5" r:id="rId6"/>
    <p:sldId id="266" r:id="rId7"/>
    <p:sldId id="267" r:id="rId8"/>
    <p:sldId id="268" r:id="rId9"/>
    <p:sldId id="269" r:id="rId10"/>
    <p:sldId id="260" r:id="rId11"/>
    <p:sldId id="270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F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70" autoAdjust="0"/>
    <p:restoredTop sz="94660"/>
  </p:normalViewPr>
  <p:slideViewPr>
    <p:cSldViewPr snapToGrid="0">
      <p:cViewPr varScale="1">
        <p:scale>
          <a:sx n="81" d="100"/>
          <a:sy n="81" d="100"/>
        </p:scale>
        <p:origin x="480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 dirty="0">
                <a:solidFill>
                  <a:srgbClr val="000000"/>
                </a:solidFill>
                <a:latin typeface="Arial"/>
              </a:rPr>
              <a:t>Global Cybercrime Cost (USD Trillion)</a:t>
            </a:r>
          </a:p>
        </c:rich>
      </c:tx>
      <c:layout>
        <c:manualLayout>
          <c:xMode val="edge"/>
          <c:yMode val="edge"/>
          <c:x val="0.11673482220972381"/>
          <c:y val="7.716049382716049E-3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28547837770278717"/>
          <c:y val="0.12037037037037036"/>
          <c:w val="0.67483908261467318"/>
          <c:h val="0.652713376105764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Cybercrime Cost (USD Trillion)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dLbl>
              <c:idx val="0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200" b="0" i="0" u="none" strike="noStrike">
                      <a:noFill/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99E4-4DB4-B068-29D25290A6C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3.5</c:v>
                </c:pt>
                <c:pt idx="1">
                  <c:v>4.2</c:v>
                </c:pt>
                <c:pt idx="2">
                  <c:v>6</c:v>
                </c:pt>
                <c:pt idx="3">
                  <c:v>7.1</c:v>
                </c:pt>
                <c:pt idx="4">
                  <c:v>8</c:v>
                </c:pt>
                <c:pt idx="5">
                  <c:v>9.5</c:v>
                </c:pt>
                <c:pt idx="6">
                  <c:v>10.5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E4-4DB4-B068-29D25290A6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909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6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90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dTable>
        <c:showHorzBorder val="1"/>
        <c:showVertBorder val="1"/>
        <c:showOutline val="1"/>
        <c:showKeys val="1"/>
      </c:dTable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  <a:scene3d>
      <a:camera prst="orthographicFront"/>
      <a:lightRig rig="threePt" dir="t"/>
    </a:scene3d>
    <a:sp3d prstMaterial="matte"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Attack Type Breakdown (2023)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Attack Types 2023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6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BEA-4AFF-80A8-5DC04C973F5C}"/>
              </c:ext>
            </c:extLst>
          </c:dPt>
          <c:dPt>
            <c:idx val="1"/>
            <c:bubble3D val="0"/>
            <c:spPr>
              <a:solidFill>
                <a:srgbClr val="0F2D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BEA-4AFF-80A8-5DC04C973F5C}"/>
              </c:ext>
            </c:extLst>
          </c:dPt>
          <c:dPt>
            <c:idx val="2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BEA-4AFF-80A8-5DC04C973F5C}"/>
              </c:ext>
            </c:extLst>
          </c:dPt>
          <c:dPt>
            <c:idx val="3"/>
            <c:bubble3D val="0"/>
            <c:spPr>
              <a:solidFill>
                <a:srgbClr val="1E88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BEA-4AFF-80A8-5DC04C973F5C}"/>
              </c:ext>
            </c:extLst>
          </c:dPt>
          <c:dPt>
            <c:idx val="4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BEA-4AFF-80A8-5DC04C973F5C}"/>
              </c:ext>
            </c:extLst>
          </c:dPt>
          <c:dPt>
            <c:idx val="5"/>
            <c:bubble3D val="0"/>
            <c:spPr>
              <a:solidFill>
                <a:srgbClr val="7890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BEA-4AFF-80A8-5DC04C973F5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BEA-4AFF-80A8-5DC04C973F5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BEA-4AFF-80A8-5DC04C973F5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BEA-4AFF-80A8-5DC04C973F5C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BEA-4AFF-80A8-5DC04C973F5C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BEA-4AFF-80A8-5DC04C973F5C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BEA-4AFF-80A8-5DC04C973F5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Phishing</c:v>
                </c:pt>
                <c:pt idx="1">
                  <c:v>Ransomware</c:v>
                </c:pt>
                <c:pt idx="2">
                  <c:v>Supply Chain</c:v>
                </c:pt>
                <c:pt idx="3">
                  <c:v>Insider Threats</c:v>
                </c:pt>
                <c:pt idx="4">
                  <c:v>DDoS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</c:v>
                </c:pt>
                <c:pt idx="1">
                  <c:v>24</c:v>
                </c:pt>
                <c:pt idx="2">
                  <c:v>15</c:v>
                </c:pt>
                <c:pt idx="3">
                  <c:v>11</c:v>
                </c:pt>
                <c:pt idx="4">
                  <c:v>7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BEA-4AFF-80A8-5DC04C973F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FBC16F-732F-ED4B-4ADD-4908FA93A22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DC8F-D391-2A35-D8F1-B281C943A14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C741B9-AF51-42D1-B44B-4C7A52F6FBB2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617C15-6C54-54D7-359C-6EB92DB111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E970B3-A579-5D5F-3544-29DC8D378C3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F0898-9B86-4360-894D-9EEA3B8625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81392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81913-A3A1-4CFA-BF7A-D237F8AB9E4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49DF2-880A-4095-A56F-87CFFE55E4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0492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B99F-C688-8F2A-54E8-A8070C90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25D31D-7446-205F-005D-9B4CE19B3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808B0-125B-2F9B-0FEB-6A9926638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5237F-D3FE-433F-8949-D50B9C7911CD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AE47C-8AF9-EE96-D398-73B7E7330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8D907-64C6-8667-62CE-80908B336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3672-A5C7-4E13-8CD6-E741C07F60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927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2C492-EB0F-E8B2-6295-AE817BE51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9A2BC-D466-4D3D-AD45-0D2C3AF0F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E065E-B979-4170-89E3-EF281433F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5D341-01A0-4A17-A818-9C330AE33291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27535-8DFD-1F70-EED4-BFECE7142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82C21-8320-D339-2D34-59641F30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3672-A5C7-4E13-8CD6-E741C07F60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457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BC24B-6A8E-E202-4B9F-CB4308E63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9E010-23F5-1F1E-45BD-21D3255E5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9643C-5486-EB44-7D17-B5D8EDF73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D365-50B4-408C-A490-5737AB376EE3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8EAE7-1E88-6362-AD08-A65D55581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72BE2-3623-876E-5E41-ED9EF87F7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3672-A5C7-4E13-8CD6-E741C07F60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969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A238-B3CD-F010-E4F8-D6AA6AD5A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5006A-F6C2-B677-80C0-093AF785C6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F58C4-D91C-F26B-F837-25810E340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A41DB3-88B9-8AD1-FFC0-D5C8A3F31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BFAA2-9CEA-47DF-AB76-86DC560D2A4C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E4274-10C6-C9AE-AC6F-4B034599B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91A8C-578F-7807-4118-819C77C03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3672-A5C7-4E13-8CD6-E741C07F60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83FDA-A27B-996F-1948-C5D3F34D3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E6DA3-CF98-4B26-073D-740E0FFBF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97531-E4DE-0942-F0E2-5550991E2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D101D4-9212-D0CA-C4A9-8D976825A3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C76058-8B1D-58FA-3C4E-78821ABAA0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B533C9-3DB2-6EEE-2CEC-A09389827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4F94F-A543-45A1-9D3B-DAD6FD27D72B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89C33A-E0D0-0E05-ABFE-F1F0FAEC2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8EE3CD-3BDA-AF72-6363-1CF539D54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3672-A5C7-4E13-8CD6-E741C07F60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971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7F44E-11B9-77B5-27A0-3B2CEB1CF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82EA93-7DB5-9871-E33C-86CEDA8CE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EFBD6-7AD1-46C4-BB4B-2C4D4FD2D3EF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4D830B-12EE-DF32-E065-3838E404F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CAF8B-AD17-86FC-AA83-375CC6AE1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3672-A5C7-4E13-8CD6-E741C07F60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473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076B4B-F174-1B52-DF39-13CF58F7A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CF275-3B26-4683-A5E0-2047E693BFCA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4FFB6-B416-64DD-AFAD-48F32FC3E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30107-D03A-EE0A-F28C-9FC0B6A2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3672-A5C7-4E13-8CD6-E741C07F60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72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A832A-1F77-78B3-5685-E0F5C887F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C684E-DA57-CE04-3A0D-558A6AF7D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6AC20-D879-542E-CCF3-B6F65A27E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B54E0-530C-2D05-B9D6-6527FDC9B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93E2B-3AA3-4F01-AC07-7CADCFDB0BE4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A2A9D7-4730-F030-BAFE-01E4CCD83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04BA4-C650-3DCA-25C8-CE7E94B02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3672-A5C7-4E13-8CD6-E741C07F60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940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7B269-4027-E9D8-5142-5514690E4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B53F9A-5559-30E2-D46E-E4A8957D80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6757F1-DB1C-810E-0F4D-BADC071B7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9EF5E9-22B2-8389-8B53-933E3C28A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8406-0B4C-40CD-B963-1EC6B4577E6D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4FD55-A74F-1402-AACD-3A79F75AB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F17B8-6F7B-08EB-F0C8-22313C601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3672-A5C7-4E13-8CD6-E741C07F60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576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3F1D2-B698-5A99-97FB-CA61F5D95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C9A89D-7714-8663-474A-AD4F27550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CAFE3-A2BA-6163-50B8-B952BE2B4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BDDC3-FF4D-4C8C-8558-38DEE44356D3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A4537-39B3-411D-3274-F188CB5E2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D23F0-B416-9973-E783-226D2A814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3672-A5C7-4E13-8CD6-E741C07F60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727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D9F021-06E5-B7B4-E2FD-540C2E1BF7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2169AD-C485-2707-9546-4066A84C7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0264D-D22D-233E-0670-780220FE0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3A532-D211-4331-9289-BF88D52450DD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E887F-4E01-116C-0E83-BD7A2C894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4C897-F5B7-BCAD-15B0-E73FEC56E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3672-A5C7-4E13-8CD6-E741C07F60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03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3D3E06-EEAC-87CC-B240-1F312D10D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C40DB-8677-5D9A-FDBF-DEDD2BB74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3EE74-EBA9-FB7F-2EEB-12159813F7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B80B1-0022-4A2E-99C6-42E8C216D7BE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1B81C-EB6E-A210-200F-CF24FE35B0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13DEC-F1CD-129C-D83A-74C2057EA9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F3672-A5C7-4E13-8CD6-E741C07F60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61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freepngimg.com/png/19306-thank-you-free-download-p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FE84705C-C234-0CFC-1752-1805429E5BD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46583" y="3725044"/>
            <a:ext cx="8498834" cy="123272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ct val="0"/>
              </a:spcBef>
            </a:pPr>
            <a:endParaRPr lang="en-US" altLang="en-US" b="1" u="sng" dirty="0">
              <a:latin typeface="Baskerville Old Face" panose="020206020805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US" altLang="en-US" b="1" u="sng" dirty="0">
                <a:latin typeface="Baskerville Old Face" panose="0202060208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Presented by </a:t>
            </a:r>
            <a:r>
              <a:rPr lang="en-US" altLang="en-US" b="1" dirty="0">
                <a:latin typeface="Baskerville Old Face" panose="0202060208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>
              <a:spcBef>
                <a:spcPct val="0"/>
              </a:spcBef>
            </a:pPr>
            <a:endParaRPr lang="en-US" altLang="en-US" b="1" dirty="0">
              <a:latin typeface="Baskerville Old Face" panose="020206020805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0E6B468-906F-C8D7-19B6-7436BDEB7A8E}"/>
              </a:ext>
            </a:extLst>
          </p:cNvPr>
          <p:cNvCxnSpPr>
            <a:cxnSpLocks/>
          </p:cNvCxnSpPr>
          <p:nvPr/>
        </p:nvCxnSpPr>
        <p:spPr>
          <a:xfrm>
            <a:off x="2258060" y="1280160"/>
            <a:ext cx="993394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2D55058-E69F-0926-6D79-7DDCF4418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258C-B734-4822-9922-87A8E0CFEFAC}" type="datetime1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FBF7E76-A360-81C4-4B21-E18D75E5A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3672-A5C7-4E13-8CD6-E741C07F6029}" type="slidenum">
              <a:rPr lang="en-US" smtClean="0"/>
              <a:pPr/>
              <a:t>1</a:t>
            </a:fld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100EC5-1165-F7E8-9090-B84F108E5048}"/>
              </a:ext>
            </a:extLst>
          </p:cNvPr>
          <p:cNvCxnSpPr>
            <a:cxnSpLocks/>
          </p:cNvCxnSpPr>
          <p:nvPr/>
        </p:nvCxnSpPr>
        <p:spPr>
          <a:xfrm>
            <a:off x="0" y="621560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5BCB97FB-3925-A375-EE4F-753C0168C59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033" y="57153"/>
            <a:ext cx="1371599" cy="13715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466F75D-11E2-6A78-9581-403E7869E8B7}"/>
              </a:ext>
            </a:extLst>
          </p:cNvPr>
          <p:cNvSpPr txBox="1"/>
          <p:nvPr/>
        </p:nvSpPr>
        <p:spPr>
          <a:xfrm>
            <a:off x="2174239" y="241758"/>
            <a:ext cx="91846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BABU BANARASI DAS UNIVERSITY , LUCKNOW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APPLICATION (DS &amp; AI)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6D7E43-A6E1-8832-9C5D-4928201C897E}"/>
              </a:ext>
            </a:extLst>
          </p:cNvPr>
          <p:cNvSpPr txBox="1"/>
          <p:nvPr/>
        </p:nvSpPr>
        <p:spPr>
          <a:xfrm>
            <a:off x="838200" y="1884066"/>
            <a:ext cx="718401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002060"/>
                </a:solidFill>
              </a:rPr>
              <a:t>AI-Powered</a:t>
            </a:r>
          </a:p>
          <a:p>
            <a:r>
              <a:rPr lang="en-IN" sz="4400" b="1" i="1" dirty="0">
                <a:solidFill>
                  <a:srgbClr val="002060"/>
                </a:solidFill>
              </a:rPr>
              <a:t>Cyberattacks  </a:t>
            </a:r>
            <a:r>
              <a:rPr lang="en-IN" sz="4400" b="1" dirty="0">
                <a:solidFill>
                  <a:srgbClr val="002060"/>
                </a:solidFill>
              </a:rPr>
              <a:t>&amp;  </a:t>
            </a:r>
            <a:r>
              <a:rPr lang="en-IN" sz="4400" b="1" dirty="0" err="1">
                <a:solidFill>
                  <a:srgbClr val="002060"/>
                </a:solidFill>
              </a:rPr>
              <a:t>Defense</a:t>
            </a:r>
            <a:endParaRPr lang="en-IN" sz="4400" b="1" dirty="0">
              <a:solidFill>
                <a:srgbClr val="00206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A0B830-6EFB-52F9-CA46-3378AD9FB1AB}"/>
              </a:ext>
            </a:extLst>
          </p:cNvPr>
          <p:cNvSpPr txBox="1"/>
          <p:nvPr/>
        </p:nvSpPr>
        <p:spPr>
          <a:xfrm>
            <a:off x="838200" y="3429000"/>
            <a:ext cx="10332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IN" i="1" spc="3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</a:t>
            </a:r>
            <a:r>
              <a:rPr lang="en-IN" i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i="1" spc="3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Intelligence</a:t>
            </a:r>
            <a:r>
              <a:rPr lang="en-IN" i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Reshaping the Battlefield of Cybersecurity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9AF758F-76F1-5E46-CB5B-6CB5E2E2908F}"/>
              </a:ext>
            </a:extLst>
          </p:cNvPr>
          <p:cNvGrpSpPr/>
          <p:nvPr/>
        </p:nvGrpSpPr>
        <p:grpSpPr>
          <a:xfrm>
            <a:off x="1165849" y="4793666"/>
            <a:ext cx="9677480" cy="587031"/>
            <a:chOff x="429340" y="4878573"/>
            <a:chExt cx="9677480" cy="587031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9DE8593-116C-C716-BDC1-AF3E47A81D79}"/>
                </a:ext>
              </a:extLst>
            </p:cNvPr>
            <p:cNvSpPr txBox="1"/>
            <p:nvPr/>
          </p:nvSpPr>
          <p:spPr>
            <a:xfrm>
              <a:off x="429340" y="4880829"/>
              <a:ext cx="2319779" cy="58477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en-IN" sz="1600" spc="3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Ujjwal Kumar Kannojiya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524F925-73FD-8A58-4410-F8BD62347491}"/>
                </a:ext>
              </a:extLst>
            </p:cNvPr>
            <p:cNvSpPr txBox="1"/>
            <p:nvPr/>
          </p:nvSpPr>
          <p:spPr>
            <a:xfrm>
              <a:off x="7787041" y="4878573"/>
              <a:ext cx="2319779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en-US" sz="1600" spc="3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IN" sz="1600" spc="3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shish Maurya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DE61B67-D331-DE11-226F-4BAF54406A7E}"/>
                </a:ext>
              </a:extLst>
            </p:cNvPr>
            <p:cNvSpPr txBox="1"/>
            <p:nvPr/>
          </p:nvSpPr>
          <p:spPr>
            <a:xfrm>
              <a:off x="2881907" y="4903496"/>
              <a:ext cx="2319779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en-US" sz="1600" spc="3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Ayushman Verma</a:t>
              </a:r>
              <a:endParaRPr lang="en-IN" sz="1600" spc="3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6E2D953-0352-72FF-7071-672FF8D716CC}"/>
                </a:ext>
              </a:extLst>
            </p:cNvPr>
            <p:cNvSpPr txBox="1"/>
            <p:nvPr/>
          </p:nvSpPr>
          <p:spPr>
            <a:xfrm>
              <a:off x="5334474" y="4880829"/>
              <a:ext cx="2319779" cy="33855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en-IN" sz="1600" spc="3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Shubham Pandey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2375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364192-13A9-4C69-0230-536C042FDF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1" y="6356350"/>
            <a:ext cx="2743200" cy="365125"/>
          </a:xfrm>
        </p:spPr>
        <p:txBody>
          <a:bodyPr/>
          <a:lstStyle/>
          <a:p>
            <a:fld id="{18CCF275-3B26-4683-A5E0-2047E693BFCA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650FD0-AD8F-BACA-BDF8-EFC0699FD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3672-A5C7-4E13-8CD6-E741C07F6029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693195-D49E-8558-5492-76900D6F39AE}"/>
              </a:ext>
            </a:extLst>
          </p:cNvPr>
          <p:cNvCxnSpPr>
            <a:cxnSpLocks/>
          </p:cNvCxnSpPr>
          <p:nvPr/>
        </p:nvCxnSpPr>
        <p:spPr>
          <a:xfrm>
            <a:off x="2258060" y="1280160"/>
            <a:ext cx="993394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3">
            <a:extLst>
              <a:ext uri="{FF2B5EF4-FFF2-40B4-BE49-F238E27FC236}">
                <a16:creationId xmlns:a16="http://schemas.microsoft.com/office/drawing/2014/main" id="{A973EE20-DBCE-1691-CE12-F5E6BA5EAE84}"/>
              </a:ext>
            </a:extLst>
          </p:cNvPr>
          <p:cNvSpPr txBox="1">
            <a:spLocks/>
          </p:cNvSpPr>
          <p:nvPr/>
        </p:nvSpPr>
        <p:spPr bwMode="auto">
          <a:xfrm>
            <a:off x="765811" y="1512274"/>
            <a:ext cx="1943100" cy="449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 sz="2800" b="1" dirty="0">
                <a:solidFill>
                  <a:srgbClr val="002060"/>
                </a:solidFill>
                <a:latin typeface="+mn-lt"/>
                <a:cs typeface="Times New Roman" panose="02020603050405020304" pitchFamily="18" charset="0"/>
              </a:rPr>
              <a:t>OUTLINE</a:t>
            </a:r>
            <a:r>
              <a:rPr lang="en-IN" altLang="en-US" sz="24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 :</a:t>
            </a:r>
            <a:endParaRPr lang="en-IN" altLang="en-US" sz="24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A346B7F-7C5D-3056-DEB0-615AF58A2C69}"/>
              </a:ext>
            </a:extLst>
          </p:cNvPr>
          <p:cNvSpPr txBox="1">
            <a:spLocks/>
          </p:cNvSpPr>
          <p:nvPr/>
        </p:nvSpPr>
        <p:spPr bwMode="auto">
          <a:xfrm>
            <a:off x="1737361" y="1681321"/>
            <a:ext cx="7500938" cy="3335939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>
              <a:buClr>
                <a:srgbClr val="A53010"/>
              </a:buClr>
              <a:buFontTx/>
              <a:buNone/>
              <a:defRPr/>
            </a:pPr>
            <a:endParaRPr lang="en-IN" sz="1800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66F75D-11E2-6A78-9581-403E7869E8B7}"/>
              </a:ext>
            </a:extLst>
          </p:cNvPr>
          <p:cNvSpPr txBox="1"/>
          <p:nvPr/>
        </p:nvSpPr>
        <p:spPr>
          <a:xfrm>
            <a:off x="2174239" y="241758"/>
            <a:ext cx="91846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BABU BANARASI DAS UNIVERSITY ,LUCKNOW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APPLICATION (DS &amp; AI)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CB97FB-3925-A375-EE4F-753C0168C59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305" y="57153"/>
            <a:ext cx="1371599" cy="1371599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C7EA791-5ADD-CC1F-1B2A-60688338D673}"/>
              </a:ext>
            </a:extLst>
          </p:cNvPr>
          <p:cNvSpPr/>
          <p:nvPr/>
        </p:nvSpPr>
        <p:spPr>
          <a:xfrm>
            <a:off x="1887380" y="1251880"/>
            <a:ext cx="9144000" cy="64008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E3B8D871-B024-6B3A-5916-0559D06A043A}"/>
              </a:ext>
            </a:extLst>
          </p:cNvPr>
          <p:cNvSpPr/>
          <p:nvPr/>
        </p:nvSpPr>
        <p:spPr>
          <a:xfrm>
            <a:off x="2344580" y="1463041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D52"/>
                </a:solidFill>
              </a:rPr>
              <a:t>Table of Contents</a:t>
            </a:r>
            <a:endParaRPr lang="en-US" sz="28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EA1771A-A128-E1F0-D22F-1D6C3BCB9D8A}"/>
              </a:ext>
            </a:extLst>
          </p:cNvPr>
          <p:cNvSpPr/>
          <p:nvPr/>
        </p:nvSpPr>
        <p:spPr>
          <a:xfrm>
            <a:off x="896301" y="2010769"/>
            <a:ext cx="4114800" cy="822960"/>
          </a:xfrm>
          <a:prstGeom prst="rect">
            <a:avLst/>
          </a:prstGeom>
          <a:solidFill>
            <a:srgbClr val="F4F6F9"/>
          </a:solidFill>
          <a:ln w="10160">
            <a:solidFill>
              <a:srgbClr val="E0E6EF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435C8397-1590-6609-20F5-316A352C6E0D}"/>
              </a:ext>
            </a:extLst>
          </p:cNvPr>
          <p:cNvSpPr/>
          <p:nvPr/>
        </p:nvSpPr>
        <p:spPr>
          <a:xfrm>
            <a:off x="896301" y="2010769"/>
            <a:ext cx="502920" cy="82296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FFC3E44B-AD92-D086-AF28-1077D597FCE5}"/>
              </a:ext>
            </a:extLst>
          </p:cNvPr>
          <p:cNvSpPr/>
          <p:nvPr/>
        </p:nvSpPr>
        <p:spPr>
          <a:xfrm>
            <a:off x="896301" y="2010769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A5F69035-D610-577E-166E-885A0992C7C6}"/>
              </a:ext>
            </a:extLst>
          </p:cNvPr>
          <p:cNvSpPr/>
          <p:nvPr/>
        </p:nvSpPr>
        <p:spPr>
          <a:xfrm>
            <a:off x="1490661" y="2102209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52"/>
                </a:solidFill>
              </a:rPr>
              <a:t>Introduction</a:t>
            </a:r>
            <a:endParaRPr lang="en-US" sz="13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3832AE21-2B28-2515-C3C7-5AA18B7D8F5C}"/>
              </a:ext>
            </a:extLst>
          </p:cNvPr>
          <p:cNvSpPr/>
          <p:nvPr/>
        </p:nvSpPr>
        <p:spPr>
          <a:xfrm>
            <a:off x="1490661" y="2449681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909C"/>
                </a:solidFill>
              </a:rPr>
              <a:t>AI meets cybersecurity</a:t>
            </a:r>
            <a:endParaRPr lang="en-US" sz="105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55002CF3-15E3-AD77-421B-FD49A076D95E}"/>
              </a:ext>
            </a:extLst>
          </p:cNvPr>
          <p:cNvSpPr/>
          <p:nvPr/>
        </p:nvSpPr>
        <p:spPr>
          <a:xfrm>
            <a:off x="5285421" y="2010769"/>
            <a:ext cx="41148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6EF"/>
            </a:solidFill>
            <a:prstDash val="solid"/>
          </a:ln>
        </p:spPr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2399CC3F-D8AF-3071-8AE3-FFCD1AC9F97A}"/>
              </a:ext>
            </a:extLst>
          </p:cNvPr>
          <p:cNvSpPr/>
          <p:nvPr/>
        </p:nvSpPr>
        <p:spPr>
          <a:xfrm>
            <a:off x="5285421" y="2010769"/>
            <a:ext cx="502920" cy="82296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6BF74EE1-4E17-AD3A-C7BB-2E8417255613}"/>
              </a:ext>
            </a:extLst>
          </p:cNvPr>
          <p:cNvSpPr/>
          <p:nvPr/>
        </p:nvSpPr>
        <p:spPr>
          <a:xfrm>
            <a:off x="5285421" y="2010769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2BCECDDF-1C6F-A1A7-EE32-0B4178A17D2F}"/>
              </a:ext>
            </a:extLst>
          </p:cNvPr>
          <p:cNvSpPr/>
          <p:nvPr/>
        </p:nvSpPr>
        <p:spPr>
          <a:xfrm>
            <a:off x="5879781" y="2102209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52"/>
                </a:solidFill>
              </a:rPr>
              <a:t>How AI is Weaponized</a:t>
            </a:r>
            <a:endParaRPr lang="en-US" sz="130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25A5C10C-6507-D81C-069A-0C6514A51B9B}"/>
              </a:ext>
            </a:extLst>
          </p:cNvPr>
          <p:cNvSpPr/>
          <p:nvPr/>
        </p:nvSpPr>
        <p:spPr>
          <a:xfrm>
            <a:off x="5879781" y="2449681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909C"/>
                </a:solidFill>
              </a:rPr>
              <a:t>Offensive techniques</a:t>
            </a:r>
            <a:endParaRPr lang="en-US" sz="1050" dirty="0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C8331261-5A66-4D23-60B7-FD12B6FE38B9}"/>
              </a:ext>
            </a:extLst>
          </p:cNvPr>
          <p:cNvSpPr/>
          <p:nvPr/>
        </p:nvSpPr>
        <p:spPr>
          <a:xfrm>
            <a:off x="896301" y="3016609"/>
            <a:ext cx="4114800" cy="822960"/>
          </a:xfrm>
          <a:prstGeom prst="rect">
            <a:avLst/>
          </a:prstGeom>
          <a:solidFill>
            <a:srgbClr val="F4F6F9"/>
          </a:solidFill>
          <a:ln w="10160">
            <a:solidFill>
              <a:srgbClr val="E0E6EF"/>
            </a:solidFill>
            <a:prstDash val="solid"/>
          </a:ln>
        </p:spPr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C7F4777E-8677-9D68-9E20-D2AA5BCA5A1C}"/>
              </a:ext>
            </a:extLst>
          </p:cNvPr>
          <p:cNvSpPr/>
          <p:nvPr/>
        </p:nvSpPr>
        <p:spPr>
          <a:xfrm>
            <a:off x="896301" y="3016609"/>
            <a:ext cx="502920" cy="82296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4737B860-1275-31FD-E8D9-86828A61BAFC}"/>
              </a:ext>
            </a:extLst>
          </p:cNvPr>
          <p:cNvSpPr/>
          <p:nvPr/>
        </p:nvSpPr>
        <p:spPr>
          <a:xfrm>
            <a:off x="896301" y="3016609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2AF909A8-41A7-49FD-7540-34D53AC05D94}"/>
              </a:ext>
            </a:extLst>
          </p:cNvPr>
          <p:cNvSpPr/>
          <p:nvPr/>
        </p:nvSpPr>
        <p:spPr>
          <a:xfrm>
            <a:off x="1490661" y="3108049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52"/>
                </a:solidFill>
              </a:rPr>
              <a:t>Real-World Attacks</a:t>
            </a:r>
            <a:endParaRPr lang="en-US" sz="1300" dirty="0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26455B63-E77F-3851-DC80-718544DA1D5C}"/>
              </a:ext>
            </a:extLst>
          </p:cNvPr>
          <p:cNvSpPr/>
          <p:nvPr/>
        </p:nvSpPr>
        <p:spPr>
          <a:xfrm>
            <a:off x="1490661" y="3455521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909C"/>
                </a:solidFill>
              </a:rPr>
              <a:t>Case studies &amp; data</a:t>
            </a:r>
            <a:endParaRPr lang="en-US" sz="1050" dirty="0"/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E0555871-9F56-F925-86AD-E52D708D32C0}"/>
              </a:ext>
            </a:extLst>
          </p:cNvPr>
          <p:cNvSpPr/>
          <p:nvPr/>
        </p:nvSpPr>
        <p:spPr>
          <a:xfrm>
            <a:off x="5285421" y="3016609"/>
            <a:ext cx="41148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6EF"/>
            </a:solidFill>
            <a:prstDash val="solid"/>
          </a:ln>
        </p:spPr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EB448969-DF78-BFE3-25A0-F524EFE528B6}"/>
              </a:ext>
            </a:extLst>
          </p:cNvPr>
          <p:cNvSpPr/>
          <p:nvPr/>
        </p:nvSpPr>
        <p:spPr>
          <a:xfrm>
            <a:off x="5285421" y="3016609"/>
            <a:ext cx="502920" cy="82296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2F6F9A8A-AFE0-82DD-6A6F-BB57AFE0F845}"/>
              </a:ext>
            </a:extLst>
          </p:cNvPr>
          <p:cNvSpPr/>
          <p:nvPr/>
        </p:nvSpPr>
        <p:spPr>
          <a:xfrm>
            <a:off x="5285421" y="3016609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ED929A1-D5A2-D132-7297-1D96B974AF79}"/>
              </a:ext>
            </a:extLst>
          </p:cNvPr>
          <p:cNvSpPr/>
          <p:nvPr/>
        </p:nvSpPr>
        <p:spPr>
          <a:xfrm>
            <a:off x="5879781" y="3108049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52"/>
                </a:solidFill>
              </a:rPr>
              <a:t>AI in Cyber Defense</a:t>
            </a:r>
            <a:endParaRPr lang="en-US" sz="13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06634399-F97F-5901-8341-36202AA58257}"/>
              </a:ext>
            </a:extLst>
          </p:cNvPr>
          <p:cNvSpPr/>
          <p:nvPr/>
        </p:nvSpPr>
        <p:spPr>
          <a:xfrm>
            <a:off x="5879781" y="3455521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909C"/>
                </a:solidFill>
              </a:rPr>
              <a:t>Tools &amp; strategies</a:t>
            </a:r>
            <a:endParaRPr lang="en-US" sz="1050" dirty="0"/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4F2BC1CC-6BAE-BBE5-2772-C3C6C6B5CBA2}"/>
              </a:ext>
            </a:extLst>
          </p:cNvPr>
          <p:cNvSpPr/>
          <p:nvPr/>
        </p:nvSpPr>
        <p:spPr>
          <a:xfrm>
            <a:off x="896301" y="4022449"/>
            <a:ext cx="4114800" cy="822960"/>
          </a:xfrm>
          <a:prstGeom prst="rect">
            <a:avLst/>
          </a:prstGeom>
          <a:solidFill>
            <a:srgbClr val="F4F6F9"/>
          </a:solidFill>
          <a:ln w="10160">
            <a:solidFill>
              <a:srgbClr val="E0E6EF"/>
            </a:solidFill>
            <a:prstDash val="solid"/>
          </a:ln>
        </p:spPr>
      </p:sp>
      <p:sp>
        <p:nvSpPr>
          <p:cNvPr id="32" name="Shape 23">
            <a:extLst>
              <a:ext uri="{FF2B5EF4-FFF2-40B4-BE49-F238E27FC236}">
                <a16:creationId xmlns:a16="http://schemas.microsoft.com/office/drawing/2014/main" id="{17F7A327-F101-4FDE-F172-7A57F9AB8940}"/>
              </a:ext>
            </a:extLst>
          </p:cNvPr>
          <p:cNvSpPr/>
          <p:nvPr/>
        </p:nvSpPr>
        <p:spPr>
          <a:xfrm>
            <a:off x="896301" y="4022449"/>
            <a:ext cx="502920" cy="82296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4E789445-7A04-B7E2-6591-4E008AF12651}"/>
              </a:ext>
            </a:extLst>
          </p:cNvPr>
          <p:cNvSpPr/>
          <p:nvPr/>
        </p:nvSpPr>
        <p:spPr>
          <a:xfrm>
            <a:off x="896301" y="4022449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3CCA1F7F-A114-9981-5884-C69CCA72C6DB}"/>
              </a:ext>
            </a:extLst>
          </p:cNvPr>
          <p:cNvSpPr/>
          <p:nvPr/>
        </p:nvSpPr>
        <p:spPr>
          <a:xfrm>
            <a:off x="1490661" y="4113889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52"/>
                </a:solidFill>
              </a:rPr>
              <a:t>Market Statistics</a:t>
            </a:r>
            <a:endParaRPr lang="en-US" sz="1300" dirty="0"/>
          </a:p>
        </p:txBody>
      </p:sp>
      <p:sp>
        <p:nvSpPr>
          <p:cNvPr id="35" name="Text 26">
            <a:extLst>
              <a:ext uri="{FF2B5EF4-FFF2-40B4-BE49-F238E27FC236}">
                <a16:creationId xmlns:a16="http://schemas.microsoft.com/office/drawing/2014/main" id="{585815A3-E713-8B79-61DA-4800048F6E82}"/>
              </a:ext>
            </a:extLst>
          </p:cNvPr>
          <p:cNvSpPr/>
          <p:nvPr/>
        </p:nvSpPr>
        <p:spPr>
          <a:xfrm>
            <a:off x="1490661" y="4461361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909C"/>
                </a:solidFill>
              </a:rPr>
              <a:t>Growth &amp; impact</a:t>
            </a:r>
            <a:endParaRPr lang="en-US" sz="1050" dirty="0"/>
          </a:p>
        </p:txBody>
      </p:sp>
      <p:sp>
        <p:nvSpPr>
          <p:cNvPr id="36" name="Shape 27">
            <a:extLst>
              <a:ext uri="{FF2B5EF4-FFF2-40B4-BE49-F238E27FC236}">
                <a16:creationId xmlns:a16="http://schemas.microsoft.com/office/drawing/2014/main" id="{6953A5EB-9437-B7D6-2FCA-77171A63263C}"/>
              </a:ext>
            </a:extLst>
          </p:cNvPr>
          <p:cNvSpPr/>
          <p:nvPr/>
        </p:nvSpPr>
        <p:spPr>
          <a:xfrm>
            <a:off x="5285421" y="4022449"/>
            <a:ext cx="41148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6EF"/>
            </a:solidFill>
            <a:prstDash val="solid"/>
          </a:ln>
        </p:spPr>
      </p:sp>
      <p:sp>
        <p:nvSpPr>
          <p:cNvPr id="37" name="Shape 28">
            <a:extLst>
              <a:ext uri="{FF2B5EF4-FFF2-40B4-BE49-F238E27FC236}">
                <a16:creationId xmlns:a16="http://schemas.microsoft.com/office/drawing/2014/main" id="{B9976251-773D-B7A7-7CF8-BABAA26C7770}"/>
              </a:ext>
            </a:extLst>
          </p:cNvPr>
          <p:cNvSpPr/>
          <p:nvPr/>
        </p:nvSpPr>
        <p:spPr>
          <a:xfrm>
            <a:off x="5285421" y="4022449"/>
            <a:ext cx="502920" cy="82296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F52CDA38-88BD-F4D4-34FE-E3557A439EA9}"/>
              </a:ext>
            </a:extLst>
          </p:cNvPr>
          <p:cNvSpPr/>
          <p:nvPr/>
        </p:nvSpPr>
        <p:spPr>
          <a:xfrm>
            <a:off x="5285421" y="4022449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B75C6777-0FE3-A825-B01D-37B89D5AD34C}"/>
              </a:ext>
            </a:extLst>
          </p:cNvPr>
          <p:cNvSpPr/>
          <p:nvPr/>
        </p:nvSpPr>
        <p:spPr>
          <a:xfrm>
            <a:off x="5879781" y="4113889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52"/>
                </a:solidFill>
              </a:rPr>
              <a:t>Advantages &amp; Limitations</a:t>
            </a:r>
            <a:endParaRPr lang="en-US" sz="1300" dirty="0"/>
          </a:p>
        </p:txBody>
      </p:sp>
      <p:sp>
        <p:nvSpPr>
          <p:cNvPr id="40" name="Text 31">
            <a:extLst>
              <a:ext uri="{FF2B5EF4-FFF2-40B4-BE49-F238E27FC236}">
                <a16:creationId xmlns:a16="http://schemas.microsoft.com/office/drawing/2014/main" id="{870FED58-1220-C9F6-71F3-56B017C51E53}"/>
              </a:ext>
            </a:extLst>
          </p:cNvPr>
          <p:cNvSpPr/>
          <p:nvPr/>
        </p:nvSpPr>
        <p:spPr>
          <a:xfrm>
            <a:off x="5879781" y="4461361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909C"/>
                </a:solidFill>
              </a:rPr>
              <a:t>Balanced view</a:t>
            </a:r>
            <a:endParaRPr lang="en-US" sz="1050" dirty="0"/>
          </a:p>
        </p:txBody>
      </p:sp>
      <p:sp>
        <p:nvSpPr>
          <p:cNvPr id="41" name="Shape 32">
            <a:extLst>
              <a:ext uri="{FF2B5EF4-FFF2-40B4-BE49-F238E27FC236}">
                <a16:creationId xmlns:a16="http://schemas.microsoft.com/office/drawing/2014/main" id="{BA42789B-60FA-50A7-7A82-EF47406263AE}"/>
              </a:ext>
            </a:extLst>
          </p:cNvPr>
          <p:cNvSpPr/>
          <p:nvPr/>
        </p:nvSpPr>
        <p:spPr>
          <a:xfrm>
            <a:off x="896301" y="5028289"/>
            <a:ext cx="4114800" cy="822960"/>
          </a:xfrm>
          <a:prstGeom prst="rect">
            <a:avLst/>
          </a:prstGeom>
          <a:solidFill>
            <a:srgbClr val="F4F6F9"/>
          </a:solidFill>
          <a:ln w="10160">
            <a:solidFill>
              <a:srgbClr val="E0E6EF"/>
            </a:solidFill>
            <a:prstDash val="solid"/>
          </a:ln>
        </p:spPr>
      </p:sp>
      <p:sp>
        <p:nvSpPr>
          <p:cNvPr id="42" name="Shape 33">
            <a:extLst>
              <a:ext uri="{FF2B5EF4-FFF2-40B4-BE49-F238E27FC236}">
                <a16:creationId xmlns:a16="http://schemas.microsoft.com/office/drawing/2014/main" id="{16C52C0B-F0D7-3561-4DA2-8E98A610E6F4}"/>
              </a:ext>
            </a:extLst>
          </p:cNvPr>
          <p:cNvSpPr/>
          <p:nvPr/>
        </p:nvSpPr>
        <p:spPr>
          <a:xfrm>
            <a:off x="896301" y="5028289"/>
            <a:ext cx="502920" cy="82296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43" name="Text 34">
            <a:extLst>
              <a:ext uri="{FF2B5EF4-FFF2-40B4-BE49-F238E27FC236}">
                <a16:creationId xmlns:a16="http://schemas.microsoft.com/office/drawing/2014/main" id="{A930ECF2-C7F1-697C-3AE5-C4F11D324074}"/>
              </a:ext>
            </a:extLst>
          </p:cNvPr>
          <p:cNvSpPr/>
          <p:nvPr/>
        </p:nvSpPr>
        <p:spPr>
          <a:xfrm>
            <a:off x="896301" y="5028289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C44B3ADC-3EAC-D809-3B83-B1A11E079974}"/>
              </a:ext>
            </a:extLst>
          </p:cNvPr>
          <p:cNvSpPr/>
          <p:nvPr/>
        </p:nvSpPr>
        <p:spPr>
          <a:xfrm>
            <a:off x="1490661" y="5119729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52"/>
                </a:solidFill>
              </a:rPr>
              <a:t>Future Scope</a:t>
            </a:r>
            <a:endParaRPr lang="en-US" sz="1300" dirty="0"/>
          </a:p>
        </p:txBody>
      </p:sp>
      <p:sp>
        <p:nvSpPr>
          <p:cNvPr id="45" name="Text 36">
            <a:extLst>
              <a:ext uri="{FF2B5EF4-FFF2-40B4-BE49-F238E27FC236}">
                <a16:creationId xmlns:a16="http://schemas.microsoft.com/office/drawing/2014/main" id="{3691DA05-F9C4-7E44-0D54-5999F35552C9}"/>
              </a:ext>
            </a:extLst>
          </p:cNvPr>
          <p:cNvSpPr/>
          <p:nvPr/>
        </p:nvSpPr>
        <p:spPr>
          <a:xfrm>
            <a:off x="1490661" y="5467201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909C"/>
                </a:solidFill>
              </a:rPr>
              <a:t>What's coming next</a:t>
            </a:r>
            <a:endParaRPr lang="en-US" sz="1050" dirty="0"/>
          </a:p>
        </p:txBody>
      </p:sp>
      <p:sp>
        <p:nvSpPr>
          <p:cNvPr id="46" name="Shape 37">
            <a:extLst>
              <a:ext uri="{FF2B5EF4-FFF2-40B4-BE49-F238E27FC236}">
                <a16:creationId xmlns:a16="http://schemas.microsoft.com/office/drawing/2014/main" id="{7F46BEF4-F791-29AD-E67E-0852745111A9}"/>
              </a:ext>
            </a:extLst>
          </p:cNvPr>
          <p:cNvSpPr/>
          <p:nvPr/>
        </p:nvSpPr>
        <p:spPr>
          <a:xfrm>
            <a:off x="5285421" y="5028289"/>
            <a:ext cx="41148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6EF"/>
            </a:solidFill>
            <a:prstDash val="solid"/>
          </a:ln>
        </p:spPr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1FE1AB55-E1BE-022B-8535-2160AB75689A}"/>
              </a:ext>
            </a:extLst>
          </p:cNvPr>
          <p:cNvSpPr/>
          <p:nvPr/>
        </p:nvSpPr>
        <p:spPr>
          <a:xfrm>
            <a:off x="5285421" y="5028289"/>
            <a:ext cx="502920" cy="822960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000BE472-BEC0-D40A-52E4-2E250387FF24}"/>
              </a:ext>
            </a:extLst>
          </p:cNvPr>
          <p:cNvSpPr/>
          <p:nvPr/>
        </p:nvSpPr>
        <p:spPr>
          <a:xfrm>
            <a:off x="5285421" y="5028289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B3126DFC-CD7F-420A-8500-62A3949ADB0F}"/>
              </a:ext>
            </a:extLst>
          </p:cNvPr>
          <p:cNvSpPr/>
          <p:nvPr/>
        </p:nvSpPr>
        <p:spPr>
          <a:xfrm>
            <a:off x="5879781" y="5119729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52"/>
                </a:solidFill>
              </a:rPr>
              <a:t>Conclusion &amp; References</a:t>
            </a:r>
            <a:endParaRPr lang="en-US" sz="1300" dirty="0"/>
          </a:p>
        </p:txBody>
      </p:sp>
      <p:sp>
        <p:nvSpPr>
          <p:cNvPr id="50" name="Text 41">
            <a:extLst>
              <a:ext uri="{FF2B5EF4-FFF2-40B4-BE49-F238E27FC236}">
                <a16:creationId xmlns:a16="http://schemas.microsoft.com/office/drawing/2014/main" id="{065A4FE6-0038-CC89-6C66-6DD43CEF2D45}"/>
              </a:ext>
            </a:extLst>
          </p:cNvPr>
          <p:cNvSpPr/>
          <p:nvPr/>
        </p:nvSpPr>
        <p:spPr>
          <a:xfrm>
            <a:off x="5879781" y="5467201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909C"/>
                </a:solidFill>
              </a:rPr>
              <a:t>Key takeaways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176891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E3F18A-FC87-B9A6-429C-0F7034BB3F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4885" y="6348021"/>
            <a:ext cx="2743200" cy="365125"/>
          </a:xfrm>
        </p:spPr>
        <p:txBody>
          <a:bodyPr/>
          <a:lstStyle/>
          <a:p>
            <a:fld id="{18CCF275-3B26-4683-A5E0-2047E693BFCA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C3B51F-7D89-4846-C78A-2647244C0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3672-A5C7-4E13-8CD6-E741C07F6029}" type="slidenum">
              <a:rPr lang="en-US" smtClean="0"/>
              <a:pPr/>
              <a:t>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E5D534-1EAC-5E1E-DB33-FBBD7F2208A4}"/>
              </a:ext>
            </a:extLst>
          </p:cNvPr>
          <p:cNvCxnSpPr>
            <a:cxnSpLocks/>
          </p:cNvCxnSpPr>
          <p:nvPr/>
        </p:nvCxnSpPr>
        <p:spPr>
          <a:xfrm>
            <a:off x="2258060" y="1280160"/>
            <a:ext cx="993394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CC93308E-DD21-552F-864C-2050E28B2143}"/>
              </a:ext>
            </a:extLst>
          </p:cNvPr>
          <p:cNvSpPr txBox="1">
            <a:spLocks/>
          </p:cNvSpPr>
          <p:nvPr/>
        </p:nvSpPr>
        <p:spPr bwMode="auto">
          <a:xfrm>
            <a:off x="-1750061" y="866685"/>
            <a:ext cx="7848600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altLang="en-US" sz="2400" b="1" dirty="0">
                <a:solidFill>
                  <a:srgbClr val="FF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       </a:t>
            </a:r>
            <a:br>
              <a:rPr lang="en-IN" altLang="en-US" sz="2400" b="1" dirty="0">
                <a:solidFill>
                  <a:srgbClr val="FF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IN" altLang="en-US" sz="2400" b="1" dirty="0">
                <a:solidFill>
                  <a:srgbClr val="FF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IN" altLang="en-US" sz="2400" b="1" dirty="0">
                <a:solidFill>
                  <a:srgbClr val="FF000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altLang="en-US" b="1" dirty="0">
                <a:solidFill>
                  <a:srgbClr val="002060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66F75D-11E2-6A78-9581-403E7869E8B7}"/>
              </a:ext>
            </a:extLst>
          </p:cNvPr>
          <p:cNvSpPr txBox="1"/>
          <p:nvPr/>
        </p:nvSpPr>
        <p:spPr>
          <a:xfrm>
            <a:off x="2174239" y="241758"/>
            <a:ext cx="91846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BABU BANARASI DAS UNIVERSITY ,LUCKNOW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APPLICATION (DS &amp; AI)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CB97FB-3925-A375-EE4F-753C0168C59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305" y="57153"/>
            <a:ext cx="1371599" cy="1371599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B3C88856-5FAC-8394-8180-A1B44797045D}"/>
              </a:ext>
            </a:extLst>
          </p:cNvPr>
          <p:cNvSpPr/>
          <p:nvPr/>
        </p:nvSpPr>
        <p:spPr>
          <a:xfrm>
            <a:off x="546578" y="2414716"/>
            <a:ext cx="7121244" cy="3573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2D52"/>
                </a:solidFill>
              </a:rPr>
              <a:t>The New Threat Landscape
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37474F"/>
                </a:solidFill>
              </a:rPr>
              <a:t>Cybersecurity has always been a cat-and-mouse game. But with Artificial Intelligence entering the picture, both attackers and defenders now have access to tools of unprecedented power.
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37474F"/>
                </a:solidFill>
              </a:rPr>
              <a:t>Traditional attacks were manual — slow, targeted, and detectable.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F2D52"/>
                </a:solidFill>
              </a:rPr>
              <a:t>AI-powered attacks are automated, adaptive, and can operate at massive scale</a:t>
            </a:r>
            <a:r>
              <a:rPr lang="en-US" dirty="0">
                <a:solidFill>
                  <a:srgbClr val="37474F"/>
                </a:solidFill>
              </a:rPr>
              <a:t> — launching thousands of unique attacks per minute.</a:t>
            </a:r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D2BB965-8209-F2E1-F7D1-6BD14259B189}"/>
              </a:ext>
            </a:extLst>
          </p:cNvPr>
          <p:cNvSpPr/>
          <p:nvPr/>
        </p:nvSpPr>
        <p:spPr>
          <a:xfrm>
            <a:off x="8244840" y="1884363"/>
            <a:ext cx="3812042" cy="1260583"/>
          </a:xfrm>
          <a:prstGeom prst="rect">
            <a:avLst/>
          </a:prstGeom>
          <a:solidFill>
            <a:srgbClr val="F4F6F9"/>
          </a:solidFill>
          <a:ln w="6350">
            <a:solidFill>
              <a:srgbClr val="E0E6EF"/>
            </a:solidFill>
            <a:prstDash val="solid"/>
          </a:ln>
        </p:spPr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9D818553-4543-CA5F-1DE4-ADBE10B11749}"/>
              </a:ext>
            </a:extLst>
          </p:cNvPr>
          <p:cNvSpPr/>
          <p:nvPr/>
        </p:nvSpPr>
        <p:spPr>
          <a:xfrm>
            <a:off x="8244839" y="1884363"/>
            <a:ext cx="112119" cy="1260583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19183696-5BF4-8E00-2FC7-6C181DFA395E}"/>
              </a:ext>
            </a:extLst>
          </p:cNvPr>
          <p:cNvSpPr/>
          <p:nvPr/>
        </p:nvSpPr>
        <p:spPr>
          <a:xfrm>
            <a:off x="8427719" y="1957515"/>
            <a:ext cx="3475685" cy="5042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62828"/>
                </a:solidFill>
              </a:rPr>
              <a:t>$8T</a:t>
            </a:r>
            <a:endParaRPr lang="en-US" sz="30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6C6D4AA6-4586-CEDF-6197-C438555C160A}"/>
              </a:ext>
            </a:extLst>
          </p:cNvPr>
          <p:cNvSpPr/>
          <p:nvPr/>
        </p:nvSpPr>
        <p:spPr>
          <a:xfrm>
            <a:off x="8427719" y="2414716"/>
            <a:ext cx="3475685" cy="332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D52"/>
                </a:solidFill>
              </a:rPr>
              <a:t>Global cybercrime cost in 2023</a:t>
            </a:r>
            <a:endParaRPr lang="en-US" sz="11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E8DF12AD-2FCA-F150-2121-4C08402EDDEC}"/>
              </a:ext>
            </a:extLst>
          </p:cNvPr>
          <p:cNvSpPr/>
          <p:nvPr/>
        </p:nvSpPr>
        <p:spPr>
          <a:xfrm>
            <a:off x="8427719" y="2707323"/>
            <a:ext cx="3475685" cy="2521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8909C"/>
                </a:solidFill>
              </a:rPr>
              <a:t>Cybersecurity Ventures, 2023</a:t>
            </a:r>
            <a:endParaRPr lang="en-US" sz="9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0399E681-4703-D92F-934E-18C6917DF692}"/>
              </a:ext>
            </a:extLst>
          </p:cNvPr>
          <p:cNvSpPr/>
          <p:nvPr/>
        </p:nvSpPr>
        <p:spPr>
          <a:xfrm>
            <a:off x="8244840" y="3210243"/>
            <a:ext cx="3812042" cy="1260583"/>
          </a:xfrm>
          <a:prstGeom prst="rect">
            <a:avLst/>
          </a:prstGeom>
          <a:solidFill>
            <a:srgbClr val="F4F6F9"/>
          </a:solidFill>
          <a:ln w="6350">
            <a:solidFill>
              <a:srgbClr val="E0E6EF"/>
            </a:solidFill>
            <a:prstDash val="solid"/>
          </a:ln>
        </p:spPr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FDA0E5E9-1830-125B-ED28-459FCC1CFEDC}"/>
              </a:ext>
            </a:extLst>
          </p:cNvPr>
          <p:cNvSpPr/>
          <p:nvPr/>
        </p:nvSpPr>
        <p:spPr>
          <a:xfrm>
            <a:off x="8244839" y="3210243"/>
            <a:ext cx="112119" cy="1260583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75FBB7F9-9FD9-092B-A487-FB37B68D2F35}"/>
              </a:ext>
            </a:extLst>
          </p:cNvPr>
          <p:cNvSpPr/>
          <p:nvPr/>
        </p:nvSpPr>
        <p:spPr>
          <a:xfrm>
            <a:off x="8427719" y="3283395"/>
            <a:ext cx="3475685" cy="5042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65C0"/>
                </a:solidFill>
              </a:rPr>
              <a:t>3,000%</a:t>
            </a:r>
            <a:endParaRPr lang="en-US" sz="30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B9632354-A28C-AF79-3594-4992BFBB1668}"/>
              </a:ext>
            </a:extLst>
          </p:cNvPr>
          <p:cNvSpPr/>
          <p:nvPr/>
        </p:nvSpPr>
        <p:spPr>
          <a:xfrm>
            <a:off x="8427719" y="3740596"/>
            <a:ext cx="3475685" cy="332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D52"/>
                </a:solidFill>
              </a:rPr>
              <a:t>Rise in deepfake fraud attempts</a:t>
            </a:r>
            <a:endParaRPr lang="en-US" sz="11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6D9D272-1FCC-D0EC-B46E-5D3A66825705}"/>
              </a:ext>
            </a:extLst>
          </p:cNvPr>
          <p:cNvSpPr/>
          <p:nvPr/>
        </p:nvSpPr>
        <p:spPr>
          <a:xfrm>
            <a:off x="8427719" y="4033203"/>
            <a:ext cx="3475685" cy="2521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8909C"/>
                </a:solidFill>
              </a:rPr>
              <a:t>Onfido Identity Fraud Report, 2023</a:t>
            </a:r>
            <a:endParaRPr lang="en-US" sz="90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64C31A67-45CF-4253-5409-2FEC2C40DE5B}"/>
              </a:ext>
            </a:extLst>
          </p:cNvPr>
          <p:cNvSpPr/>
          <p:nvPr/>
        </p:nvSpPr>
        <p:spPr>
          <a:xfrm>
            <a:off x="8244840" y="4536123"/>
            <a:ext cx="3812042" cy="1260583"/>
          </a:xfrm>
          <a:prstGeom prst="rect">
            <a:avLst/>
          </a:prstGeom>
          <a:solidFill>
            <a:srgbClr val="F4F6F9"/>
          </a:solidFill>
          <a:ln w="6350">
            <a:solidFill>
              <a:srgbClr val="E0E6EF"/>
            </a:solidFill>
            <a:prstDash val="solid"/>
          </a:ln>
        </p:spPr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09C25D44-9365-1D6D-ED96-7963D3CA77E9}"/>
              </a:ext>
            </a:extLst>
          </p:cNvPr>
          <p:cNvSpPr/>
          <p:nvPr/>
        </p:nvSpPr>
        <p:spPr>
          <a:xfrm>
            <a:off x="8244839" y="4536123"/>
            <a:ext cx="112119" cy="1260583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AA273561-DB09-1EFF-24A1-C4AEFF68A3BC}"/>
              </a:ext>
            </a:extLst>
          </p:cNvPr>
          <p:cNvSpPr/>
          <p:nvPr/>
        </p:nvSpPr>
        <p:spPr>
          <a:xfrm>
            <a:off x="8427719" y="4609275"/>
            <a:ext cx="3475685" cy="5042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52"/>
                </a:solidFill>
              </a:rPr>
              <a:t>60%</a:t>
            </a:r>
            <a:endParaRPr lang="en-US" sz="300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2F0F74B9-C508-18C0-D3AE-29B75885FF84}"/>
              </a:ext>
            </a:extLst>
          </p:cNvPr>
          <p:cNvSpPr/>
          <p:nvPr/>
        </p:nvSpPr>
        <p:spPr>
          <a:xfrm>
            <a:off x="8427719" y="5066476"/>
            <a:ext cx="3475685" cy="332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D52"/>
                </a:solidFill>
              </a:rPr>
              <a:t>Increase in AI-crafted phishing</a:t>
            </a:r>
            <a:endParaRPr lang="en-US" sz="110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468922E0-428D-54ED-0EDB-47C452AF4E8A}"/>
              </a:ext>
            </a:extLst>
          </p:cNvPr>
          <p:cNvSpPr/>
          <p:nvPr/>
        </p:nvSpPr>
        <p:spPr>
          <a:xfrm>
            <a:off x="8427719" y="5359083"/>
            <a:ext cx="3475685" cy="2521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8909C"/>
                </a:solidFill>
              </a:rPr>
              <a:t>Zscaler ThreatLabz Report, 2023</a:t>
            </a:r>
            <a:endParaRPr lang="en-US" sz="9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9B79A5EC-F425-4374-5211-1710AC963C8D}"/>
              </a:ext>
            </a:extLst>
          </p:cNvPr>
          <p:cNvSpPr/>
          <p:nvPr/>
        </p:nvSpPr>
        <p:spPr>
          <a:xfrm>
            <a:off x="234885" y="6029599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8909C"/>
                </a:solidFill>
              </a:rPr>
              <a:t>Sources</a:t>
            </a:r>
            <a:r>
              <a:rPr lang="en-US" sz="1200" i="1" dirty="0">
                <a:solidFill>
                  <a:srgbClr val="78909C"/>
                </a:solidFill>
              </a:rPr>
              <a:t>: Cybersecurity Ventures 2023 </a:t>
            </a:r>
            <a:r>
              <a:rPr lang="en-US" sz="1300" i="1" dirty="0">
                <a:solidFill>
                  <a:srgbClr val="78909C"/>
                </a:solidFill>
              </a:rPr>
              <a:t>Annual</a:t>
            </a:r>
            <a:r>
              <a:rPr lang="en-US" sz="1200" i="1" dirty="0">
                <a:solidFill>
                  <a:srgbClr val="78909C"/>
                </a:solidFill>
              </a:rPr>
              <a:t> Report, Onfido 2023, Zscaler ThreatLabz 2023</a:t>
            </a:r>
            <a:endParaRPr lang="en-US" sz="1200" dirty="0"/>
          </a:p>
        </p:txBody>
      </p:sp>
      <p:sp>
        <p:nvSpPr>
          <p:cNvPr id="25" name="Shape 0">
            <a:extLst>
              <a:ext uri="{FF2B5EF4-FFF2-40B4-BE49-F238E27FC236}">
                <a16:creationId xmlns:a16="http://schemas.microsoft.com/office/drawing/2014/main" id="{7C04B082-7F5F-B607-0907-416DF8809BD9}"/>
              </a:ext>
            </a:extLst>
          </p:cNvPr>
          <p:cNvSpPr/>
          <p:nvPr/>
        </p:nvSpPr>
        <p:spPr>
          <a:xfrm>
            <a:off x="1887380" y="1251880"/>
            <a:ext cx="9144000" cy="64008"/>
          </a:xfrm>
          <a:prstGeom prst="rect">
            <a:avLst/>
          </a:prstGeom>
          <a:solidFill>
            <a:srgbClr val="0F2D52"/>
          </a:solidFill>
          <a:ln/>
        </p:spPr>
      </p:sp>
    </p:spTree>
    <p:extLst>
      <p:ext uri="{BB962C8B-B14F-4D97-AF65-F5344CB8AC3E}">
        <p14:creationId xmlns:p14="http://schemas.microsoft.com/office/powerpoint/2010/main" val="2535800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5A0FD7-7C4C-15B1-6066-3CB22260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356350"/>
            <a:ext cx="2743200" cy="365125"/>
          </a:xfrm>
        </p:spPr>
        <p:txBody>
          <a:bodyPr/>
          <a:lstStyle/>
          <a:p>
            <a:fld id="{18CCF275-3B26-4683-A5E0-2047E693BFCA}" type="datetime1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BD3AA8-55E3-AB02-0B09-14A501C2F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3672-A5C7-4E13-8CD6-E741C07F6029}" type="slidenum">
              <a:rPr lang="en-US" smtClean="0"/>
              <a:pPr/>
              <a:t>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FAAA51-9AEA-B74A-1F5A-8F0ACCFEE1BD}"/>
              </a:ext>
            </a:extLst>
          </p:cNvPr>
          <p:cNvCxnSpPr>
            <a:cxnSpLocks/>
          </p:cNvCxnSpPr>
          <p:nvPr/>
        </p:nvCxnSpPr>
        <p:spPr>
          <a:xfrm>
            <a:off x="2258060" y="1280160"/>
            <a:ext cx="993394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BDF28E35-C874-84C6-0EF1-384CE2E19676}"/>
              </a:ext>
            </a:extLst>
          </p:cNvPr>
          <p:cNvSpPr txBox="1">
            <a:spLocks/>
          </p:cNvSpPr>
          <p:nvPr/>
        </p:nvSpPr>
        <p:spPr bwMode="auto">
          <a:xfrm>
            <a:off x="-289560" y="2157846"/>
            <a:ext cx="41148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altLang="en-US" sz="32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</a:t>
            </a:r>
            <a:r>
              <a:rPr lang="en-IN" altLang="en-US" sz="3200" b="1" dirty="0">
                <a:solidFill>
                  <a:srgbClr val="002060"/>
                </a:solidFill>
                <a:latin typeface="Calibri" panose="020F0502020204030204" pitchFamily="34" charset="0"/>
              </a:rPr>
              <a:t> Review 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66F75D-11E2-6A78-9581-403E7869E8B7}"/>
              </a:ext>
            </a:extLst>
          </p:cNvPr>
          <p:cNvSpPr txBox="1"/>
          <p:nvPr/>
        </p:nvSpPr>
        <p:spPr>
          <a:xfrm>
            <a:off x="2174239" y="241758"/>
            <a:ext cx="91846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BABU BANARASI DAS UNIVERSITY ,LUCKNOW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APPLICATION (DS &amp; AI)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CB97FB-3925-A375-EE4F-753C0168C59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305" y="57153"/>
            <a:ext cx="1371599" cy="1371599"/>
          </a:xfrm>
          <a:prstGeom prst="rect">
            <a:avLst/>
          </a:prstGeom>
        </p:spPr>
      </p:pic>
      <p:sp>
        <p:nvSpPr>
          <p:cNvPr id="35" name="Shape 0">
            <a:extLst>
              <a:ext uri="{FF2B5EF4-FFF2-40B4-BE49-F238E27FC236}">
                <a16:creationId xmlns:a16="http://schemas.microsoft.com/office/drawing/2014/main" id="{DDCC3A94-6824-1665-ED03-DA730ED975D7}"/>
              </a:ext>
            </a:extLst>
          </p:cNvPr>
          <p:cNvSpPr/>
          <p:nvPr/>
        </p:nvSpPr>
        <p:spPr>
          <a:xfrm>
            <a:off x="3145410" y="1248155"/>
            <a:ext cx="9144000" cy="64008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37" name="Text 1"/>
          <p:cNvSpPr/>
          <p:nvPr/>
        </p:nvSpPr>
        <p:spPr>
          <a:xfrm>
            <a:off x="8772294" y="4376630"/>
            <a:ext cx="3279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52"/>
                </a:solidFill>
              </a:rPr>
              <a:t>How Attackers Use AI</a:t>
            </a:r>
            <a:endParaRPr lang="en-US" sz="2600" dirty="0"/>
          </a:p>
        </p:txBody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063EF39B-E619-888C-5AFB-CD25B743A03C}"/>
              </a:ext>
            </a:extLst>
          </p:cNvPr>
          <p:cNvSpPr/>
          <p:nvPr/>
        </p:nvSpPr>
        <p:spPr>
          <a:xfrm>
            <a:off x="3688080" y="1718934"/>
            <a:ext cx="4114800" cy="1783080"/>
          </a:xfrm>
          <a:prstGeom prst="rect">
            <a:avLst/>
          </a:prstGeom>
          <a:solidFill>
            <a:srgbClr val="FFF3F3"/>
          </a:solidFill>
          <a:ln w="10160">
            <a:solidFill>
              <a:srgbClr val="FFCDD2"/>
            </a:solidFill>
            <a:prstDash val="solid"/>
          </a:ln>
        </p:spPr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1175EA66-9B26-ECA0-A99D-00383B73B38E}"/>
              </a:ext>
            </a:extLst>
          </p:cNvPr>
          <p:cNvSpPr/>
          <p:nvPr/>
        </p:nvSpPr>
        <p:spPr>
          <a:xfrm>
            <a:off x="3688080" y="1718934"/>
            <a:ext cx="41148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9861CB99-47BD-93D4-E17E-A341A2001D53}"/>
              </a:ext>
            </a:extLst>
          </p:cNvPr>
          <p:cNvSpPr/>
          <p:nvPr/>
        </p:nvSpPr>
        <p:spPr>
          <a:xfrm>
            <a:off x="6705600" y="1828662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C62828"/>
          </a:solidFill>
          <a:ln/>
        </p:spPr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8530B86A-BDA9-F89C-7BE3-2ADF9257291C}"/>
              </a:ext>
            </a:extLst>
          </p:cNvPr>
          <p:cNvSpPr/>
          <p:nvPr/>
        </p:nvSpPr>
        <p:spPr>
          <a:xfrm>
            <a:off x="6705600" y="182866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Most Common</a:t>
            </a:r>
            <a:endParaRPr lang="en-US" sz="800" dirty="0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B2FA8826-0CB9-4FF6-EF95-0724AF2835D4}"/>
              </a:ext>
            </a:extLst>
          </p:cNvPr>
          <p:cNvSpPr/>
          <p:nvPr/>
        </p:nvSpPr>
        <p:spPr>
          <a:xfrm>
            <a:off x="3825240" y="181037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52"/>
                </a:solidFill>
              </a:rPr>
              <a:t>AI-Generated Phishing</a:t>
            </a:r>
            <a:endParaRPr lang="en-US" sz="1300" dirty="0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6C928683-616D-2DF1-C4D2-1146E41DCB38}"/>
              </a:ext>
            </a:extLst>
          </p:cNvPr>
          <p:cNvSpPr/>
          <p:nvPr/>
        </p:nvSpPr>
        <p:spPr>
          <a:xfrm>
            <a:off x="3825240" y="219442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</a:rPr>
              <a:t>LLMs like WormGPT (dark web tool) write personalised phishing emails without grammar mistakes. Can generate 40,000+ unique emails/hour. Click rates up to 4× higher than manual phishing.</a:t>
            </a:r>
            <a:endParaRPr lang="en-US" sz="1050" dirty="0"/>
          </a:p>
        </p:txBody>
      </p:sp>
      <p:sp>
        <p:nvSpPr>
          <p:cNvPr id="44" name="Shape 8">
            <a:extLst>
              <a:ext uri="{FF2B5EF4-FFF2-40B4-BE49-F238E27FC236}">
                <a16:creationId xmlns:a16="http://schemas.microsoft.com/office/drawing/2014/main" id="{93B7F8DB-7DA9-47CF-E051-A6A4043318D2}"/>
              </a:ext>
            </a:extLst>
          </p:cNvPr>
          <p:cNvSpPr/>
          <p:nvPr/>
        </p:nvSpPr>
        <p:spPr>
          <a:xfrm>
            <a:off x="8077200" y="1718934"/>
            <a:ext cx="4114800" cy="1783080"/>
          </a:xfrm>
          <a:prstGeom prst="rect">
            <a:avLst/>
          </a:prstGeom>
          <a:solidFill>
            <a:srgbClr val="FFF3F3"/>
          </a:solidFill>
          <a:ln w="10160">
            <a:solidFill>
              <a:srgbClr val="FFCDD2"/>
            </a:solidFill>
            <a:prstDash val="solid"/>
          </a:ln>
        </p:spPr>
      </p:sp>
      <p:sp>
        <p:nvSpPr>
          <p:cNvPr id="45" name="Shape 9">
            <a:extLst>
              <a:ext uri="{FF2B5EF4-FFF2-40B4-BE49-F238E27FC236}">
                <a16:creationId xmlns:a16="http://schemas.microsoft.com/office/drawing/2014/main" id="{A7930540-D783-4B12-45C4-FB4AAE0FE50E}"/>
              </a:ext>
            </a:extLst>
          </p:cNvPr>
          <p:cNvSpPr/>
          <p:nvPr/>
        </p:nvSpPr>
        <p:spPr>
          <a:xfrm>
            <a:off x="8077200" y="1718934"/>
            <a:ext cx="41148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6" name="Shape 10">
            <a:extLst>
              <a:ext uri="{FF2B5EF4-FFF2-40B4-BE49-F238E27FC236}">
                <a16:creationId xmlns:a16="http://schemas.microsoft.com/office/drawing/2014/main" id="{6750E5D5-7705-ACBE-65B8-ACEE21196657}"/>
              </a:ext>
            </a:extLst>
          </p:cNvPr>
          <p:cNvSpPr/>
          <p:nvPr/>
        </p:nvSpPr>
        <p:spPr>
          <a:xfrm>
            <a:off x="11094720" y="1828662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8B0000"/>
          </a:solidFill>
          <a:ln/>
        </p:spPr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1CD376FF-A240-50CA-DAE9-241F3F1676A4}"/>
              </a:ext>
            </a:extLst>
          </p:cNvPr>
          <p:cNvSpPr/>
          <p:nvPr/>
        </p:nvSpPr>
        <p:spPr>
          <a:xfrm>
            <a:off x="11094720" y="182866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 Impact</a:t>
            </a:r>
            <a:endParaRPr lang="en-US" sz="800" dirty="0"/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9E093362-5680-CC53-D1E1-DDDCB3AFFD5D}"/>
              </a:ext>
            </a:extLst>
          </p:cNvPr>
          <p:cNvSpPr/>
          <p:nvPr/>
        </p:nvSpPr>
        <p:spPr>
          <a:xfrm>
            <a:off x="8214360" y="181037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52"/>
                </a:solidFill>
              </a:rPr>
              <a:t>Deepfake Social Engineering</a:t>
            </a:r>
            <a:endParaRPr lang="en-US" sz="1300" dirty="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49DE5657-FBA4-88CA-9F8E-587260228200}"/>
              </a:ext>
            </a:extLst>
          </p:cNvPr>
          <p:cNvSpPr/>
          <p:nvPr/>
        </p:nvSpPr>
        <p:spPr>
          <a:xfrm>
            <a:off x="8214360" y="219442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</a:rPr>
              <a:t>Audio/video cloning of executives to authorise fraudulent transfers. In 2024, a Hong Kong firm lost HK$200M (~$25.6M USD) to a deepfake video call impersonating the CFO.</a:t>
            </a:r>
            <a:endParaRPr lang="en-US" sz="1050" dirty="0"/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A86ED00E-F1C3-E3AD-DBBD-F5F0F0092767}"/>
              </a:ext>
            </a:extLst>
          </p:cNvPr>
          <p:cNvSpPr/>
          <p:nvPr/>
        </p:nvSpPr>
        <p:spPr>
          <a:xfrm>
            <a:off x="0" y="3791414"/>
            <a:ext cx="4114800" cy="1783080"/>
          </a:xfrm>
          <a:prstGeom prst="rect">
            <a:avLst/>
          </a:prstGeom>
          <a:solidFill>
            <a:srgbClr val="FFF3F3"/>
          </a:solidFill>
          <a:ln w="10160">
            <a:solidFill>
              <a:srgbClr val="FFCDD2"/>
            </a:solidFill>
            <a:prstDash val="solid"/>
          </a:ln>
        </p:spPr>
      </p:sp>
      <p:sp>
        <p:nvSpPr>
          <p:cNvPr id="51" name="Shape 15">
            <a:extLst>
              <a:ext uri="{FF2B5EF4-FFF2-40B4-BE49-F238E27FC236}">
                <a16:creationId xmlns:a16="http://schemas.microsoft.com/office/drawing/2014/main" id="{E88AF6D9-69D0-92F6-2089-8A3D746E4AB7}"/>
              </a:ext>
            </a:extLst>
          </p:cNvPr>
          <p:cNvSpPr/>
          <p:nvPr/>
        </p:nvSpPr>
        <p:spPr>
          <a:xfrm>
            <a:off x="0" y="3791414"/>
            <a:ext cx="41148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814881C8-948B-265B-B3A9-BB88B96DEA0C}"/>
              </a:ext>
            </a:extLst>
          </p:cNvPr>
          <p:cNvSpPr/>
          <p:nvPr/>
        </p:nvSpPr>
        <p:spPr>
          <a:xfrm>
            <a:off x="3017520" y="3901142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1565C0"/>
          </a:solidFill>
          <a:ln/>
        </p:spPr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53EDB5BD-7BFE-E225-C143-37B27B79A25D}"/>
              </a:ext>
            </a:extLst>
          </p:cNvPr>
          <p:cNvSpPr/>
          <p:nvPr/>
        </p:nvSpPr>
        <p:spPr>
          <a:xfrm>
            <a:off x="3017520" y="390114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 Scale</a:t>
            </a:r>
            <a:endParaRPr lang="en-US" sz="800" dirty="0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0742D551-9DD1-1776-EEAB-9A0082FD1FF8}"/>
              </a:ext>
            </a:extLst>
          </p:cNvPr>
          <p:cNvSpPr/>
          <p:nvPr/>
        </p:nvSpPr>
        <p:spPr>
          <a:xfrm>
            <a:off x="137160" y="388285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52"/>
                </a:solidFill>
              </a:rPr>
              <a:t>Automated Vulnerability Scanning</a:t>
            </a:r>
            <a:endParaRPr lang="en-US" sz="13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291C8D8A-E421-F1E5-51EA-4A16554AE6F8}"/>
              </a:ext>
            </a:extLst>
          </p:cNvPr>
          <p:cNvSpPr/>
          <p:nvPr/>
        </p:nvSpPr>
        <p:spPr>
          <a:xfrm>
            <a:off x="137160" y="426690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</a:rPr>
              <a:t>AI agents scan millions of IP addresses continuously, identifying unpatched systems in minutes. Tools like AutoSploit combine Shodan data with Metasploit automatically.</a:t>
            </a:r>
            <a:endParaRPr lang="en-US" sz="1050" dirty="0"/>
          </a:p>
        </p:txBody>
      </p:sp>
      <p:sp>
        <p:nvSpPr>
          <p:cNvPr id="56" name="Shape 20">
            <a:extLst>
              <a:ext uri="{FF2B5EF4-FFF2-40B4-BE49-F238E27FC236}">
                <a16:creationId xmlns:a16="http://schemas.microsoft.com/office/drawing/2014/main" id="{05BFCB38-88E8-0F03-8A96-227B0053A8EF}"/>
              </a:ext>
            </a:extLst>
          </p:cNvPr>
          <p:cNvSpPr/>
          <p:nvPr/>
        </p:nvSpPr>
        <p:spPr>
          <a:xfrm>
            <a:off x="4389120" y="3791414"/>
            <a:ext cx="4114800" cy="1783080"/>
          </a:xfrm>
          <a:prstGeom prst="rect">
            <a:avLst/>
          </a:prstGeom>
          <a:solidFill>
            <a:srgbClr val="FFF3F3"/>
          </a:solidFill>
          <a:ln w="10160">
            <a:solidFill>
              <a:srgbClr val="FFCDD2"/>
            </a:solidFill>
            <a:prstDash val="solid"/>
          </a:ln>
        </p:spPr>
      </p:sp>
      <p:sp>
        <p:nvSpPr>
          <p:cNvPr id="57" name="Shape 21">
            <a:extLst>
              <a:ext uri="{FF2B5EF4-FFF2-40B4-BE49-F238E27FC236}">
                <a16:creationId xmlns:a16="http://schemas.microsoft.com/office/drawing/2014/main" id="{E19B365C-BC56-02C5-CFA1-3685447DCB2C}"/>
              </a:ext>
            </a:extLst>
          </p:cNvPr>
          <p:cNvSpPr/>
          <p:nvPr/>
        </p:nvSpPr>
        <p:spPr>
          <a:xfrm>
            <a:off x="4389120" y="3791414"/>
            <a:ext cx="4114800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58" name="Shape 22">
            <a:extLst>
              <a:ext uri="{FF2B5EF4-FFF2-40B4-BE49-F238E27FC236}">
                <a16:creationId xmlns:a16="http://schemas.microsoft.com/office/drawing/2014/main" id="{9D7F1CF1-DF9C-9D8A-8EB5-932FC6E2951A}"/>
              </a:ext>
            </a:extLst>
          </p:cNvPr>
          <p:cNvSpPr/>
          <p:nvPr/>
        </p:nvSpPr>
        <p:spPr>
          <a:xfrm>
            <a:off x="7406640" y="3901142"/>
            <a:ext cx="960120" cy="256032"/>
          </a:xfrm>
          <a:prstGeom prst="roundRect">
            <a:avLst>
              <a:gd name="adj" fmla="val 17857"/>
            </a:avLst>
          </a:prstGeom>
          <a:solidFill>
            <a:srgbClr val="6A1B9A"/>
          </a:solidFill>
          <a:ln/>
        </p:spPr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DDDA3C37-8F7C-67FB-5D2A-617C7441BC25}"/>
              </a:ext>
            </a:extLst>
          </p:cNvPr>
          <p:cNvSpPr/>
          <p:nvPr/>
        </p:nvSpPr>
        <p:spPr>
          <a:xfrm>
            <a:off x="7406640" y="390114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Emerging</a:t>
            </a:r>
            <a:endParaRPr lang="en-US" sz="800" dirty="0"/>
          </a:p>
        </p:txBody>
      </p:sp>
      <p:sp>
        <p:nvSpPr>
          <p:cNvPr id="60" name="Text 24">
            <a:extLst>
              <a:ext uri="{FF2B5EF4-FFF2-40B4-BE49-F238E27FC236}">
                <a16:creationId xmlns:a16="http://schemas.microsoft.com/office/drawing/2014/main" id="{77465D1E-0BBE-5106-E529-8552AAF9E72E}"/>
              </a:ext>
            </a:extLst>
          </p:cNvPr>
          <p:cNvSpPr/>
          <p:nvPr/>
        </p:nvSpPr>
        <p:spPr>
          <a:xfrm>
            <a:off x="4526280" y="388285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52"/>
                </a:solidFill>
              </a:rPr>
              <a:t>AI-Powered Malware</a:t>
            </a:r>
            <a:endParaRPr lang="en-US" sz="1300" dirty="0"/>
          </a:p>
        </p:txBody>
      </p:sp>
      <p:sp>
        <p:nvSpPr>
          <p:cNvPr id="61" name="Text 25">
            <a:extLst>
              <a:ext uri="{FF2B5EF4-FFF2-40B4-BE49-F238E27FC236}">
                <a16:creationId xmlns:a16="http://schemas.microsoft.com/office/drawing/2014/main" id="{B7AAFA9D-DB56-5C9D-484C-490B2089D215}"/>
              </a:ext>
            </a:extLst>
          </p:cNvPr>
          <p:cNvSpPr/>
          <p:nvPr/>
        </p:nvSpPr>
        <p:spPr>
          <a:xfrm>
            <a:off x="4526280" y="426690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</a:rPr>
              <a:t>Malware that mutates its own code to evade antivirus signatures. BlackMamba (2023) demonstrated polymorphic keylogger that regenerates itself using GPT-4 at runtime.</a:t>
            </a:r>
            <a:endParaRPr lang="en-US" sz="1050" dirty="0"/>
          </a:p>
        </p:txBody>
      </p:sp>
      <p:sp>
        <p:nvSpPr>
          <p:cNvPr id="86" name="Text 26"/>
          <p:cNvSpPr/>
          <p:nvPr/>
        </p:nvSpPr>
        <p:spPr>
          <a:xfrm>
            <a:off x="4311585" y="6022458"/>
            <a:ext cx="901673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8909C"/>
                </a:solidFill>
              </a:rPr>
              <a:t>Sources: SlashNext AI Phishing Report 2023, Reuters (Hong Kong deepfake, Feb 2024), HYAS Protect Research 2023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56079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81000" y="6375194"/>
            <a:ext cx="2743200" cy="365125"/>
          </a:xfrm>
        </p:spPr>
        <p:txBody>
          <a:bodyPr/>
          <a:lstStyle/>
          <a:p>
            <a:fld id="{18CCF275-3B26-4683-A5E0-2047E693BFCA}" type="datetime1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3672-A5C7-4E13-8CD6-E741C07F6029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CB97FB-3925-A375-EE4F-753C0168C59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305" y="57153"/>
            <a:ext cx="1371599" cy="13715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66F75D-11E2-6A78-9581-403E7869E8B7}"/>
              </a:ext>
            </a:extLst>
          </p:cNvPr>
          <p:cNvSpPr txBox="1"/>
          <p:nvPr/>
        </p:nvSpPr>
        <p:spPr>
          <a:xfrm>
            <a:off x="2174239" y="241758"/>
            <a:ext cx="91846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BABU BANARASI DAS UNIVERSITY ,LUCKNOW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APPLICATION (DS &amp; AI)</a:t>
            </a:r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F3DC6D60-A0A2-18A5-2C5B-8B8C9401974C}"/>
              </a:ext>
            </a:extLst>
          </p:cNvPr>
          <p:cNvSpPr/>
          <p:nvPr/>
        </p:nvSpPr>
        <p:spPr>
          <a:xfrm>
            <a:off x="2290713" y="1291449"/>
            <a:ext cx="9144000" cy="64008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8C406F20-9234-0BB6-215B-19D86E146789}"/>
              </a:ext>
            </a:extLst>
          </p:cNvPr>
          <p:cNvSpPr/>
          <p:nvPr/>
        </p:nvSpPr>
        <p:spPr>
          <a:xfrm>
            <a:off x="381000" y="1597449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52"/>
                </a:solidFill>
              </a:rPr>
              <a:t>Real-World Attacks — Case Studies</a:t>
            </a:r>
            <a:endParaRPr lang="en-US" sz="26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8796480E-8A61-18EE-91FB-73959F5D29F2}"/>
              </a:ext>
            </a:extLst>
          </p:cNvPr>
          <p:cNvSpPr/>
          <p:nvPr/>
        </p:nvSpPr>
        <p:spPr>
          <a:xfrm>
            <a:off x="477467" y="2143351"/>
            <a:ext cx="8321040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E0E6EF"/>
            </a:solidFill>
            <a:prstDash val="solid"/>
          </a:ln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F801F8F2-29E8-C8D1-0B52-74BE60771ED9}"/>
              </a:ext>
            </a:extLst>
          </p:cNvPr>
          <p:cNvSpPr/>
          <p:nvPr/>
        </p:nvSpPr>
        <p:spPr>
          <a:xfrm>
            <a:off x="477467" y="2143351"/>
            <a:ext cx="91440" cy="11704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4B3DA0B1-8F26-C6B3-7BB7-C24813E8EF3F}"/>
              </a:ext>
            </a:extLst>
          </p:cNvPr>
          <p:cNvSpPr/>
          <p:nvPr/>
        </p:nvSpPr>
        <p:spPr>
          <a:xfrm>
            <a:off x="687779" y="2234791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52"/>
                </a:solidFill>
              </a:rPr>
              <a:t>AIIMS Delhi</a:t>
            </a:r>
            <a:endParaRPr lang="en-US" sz="14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687A3DCE-D7CA-3C16-D284-434E42D0A770}"/>
              </a:ext>
            </a:extLst>
          </p:cNvPr>
          <p:cNvSpPr/>
          <p:nvPr/>
        </p:nvSpPr>
        <p:spPr>
          <a:xfrm>
            <a:off x="687779" y="2554831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909C"/>
                </a:solidFill>
              </a:rPr>
              <a:t>Nov 2022</a:t>
            </a:r>
            <a:endParaRPr lang="en-US" sz="105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DA8A6205-59BF-4E35-E961-264A71066C54}"/>
              </a:ext>
            </a:extLst>
          </p:cNvPr>
          <p:cNvSpPr/>
          <p:nvPr/>
        </p:nvSpPr>
        <p:spPr>
          <a:xfrm>
            <a:off x="687779" y="2856583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C62828">
              <a:alpha val="12000"/>
            </a:srgbClr>
          </a:solidFill>
          <a:ln/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193EDD02-5F4F-B39D-5958-81DD393FD843}"/>
              </a:ext>
            </a:extLst>
          </p:cNvPr>
          <p:cNvSpPr/>
          <p:nvPr/>
        </p:nvSpPr>
        <p:spPr>
          <a:xfrm>
            <a:off x="687779" y="2856583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62828"/>
                </a:solidFill>
              </a:rPr>
              <a:t>Ransomware</a:t>
            </a:r>
            <a:endParaRPr lang="en-US" sz="9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6B9BF4A3-0439-49A7-B37B-EBB5DA2F88BF}"/>
              </a:ext>
            </a:extLst>
          </p:cNvPr>
          <p:cNvSpPr/>
          <p:nvPr/>
        </p:nvSpPr>
        <p:spPr>
          <a:xfrm>
            <a:off x="2809187" y="2234791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Server outage for 15 days. 40 million patient records at risk. Attackers demanded ₹200 crore in cryptocurrency. Manual operations for weeks.</a:t>
            </a:r>
            <a:endParaRPr lang="en-US" sz="11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DB01221C-5D1D-D043-E8EB-322B6CFDCA8C}"/>
              </a:ext>
            </a:extLst>
          </p:cNvPr>
          <p:cNvSpPr/>
          <p:nvPr/>
        </p:nvSpPr>
        <p:spPr>
          <a:xfrm>
            <a:off x="7472626" y="2143351"/>
            <a:ext cx="1796341" cy="1170432"/>
          </a:xfrm>
          <a:prstGeom prst="rect">
            <a:avLst/>
          </a:prstGeom>
          <a:solidFill>
            <a:srgbClr val="C62828"/>
          </a:solidFill>
          <a:ln/>
          <a:effectLst>
            <a:innerShdw blurRad="114300">
              <a:prstClr val="black"/>
            </a:innerShdw>
            <a:reflection stA="25000" endPos="65000" dist="50800" dir="5400000" sy="-100000" algn="bl" rotWithShape="0"/>
          </a:effectLst>
        </p:spPr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ED2FD260-6A76-C580-E69F-C5A068B1BE09}"/>
              </a:ext>
            </a:extLst>
          </p:cNvPr>
          <p:cNvSpPr/>
          <p:nvPr/>
        </p:nvSpPr>
        <p:spPr>
          <a:xfrm>
            <a:off x="7472627" y="2143351"/>
            <a:ext cx="13258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₹200 Cr demanded</a:t>
            </a:r>
            <a:endParaRPr lang="en-US" sz="1100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619B6DAB-57A0-F4AE-CF7C-38E7FB027302}"/>
              </a:ext>
            </a:extLst>
          </p:cNvPr>
          <p:cNvSpPr/>
          <p:nvPr/>
        </p:nvSpPr>
        <p:spPr>
          <a:xfrm>
            <a:off x="2711620" y="3431868"/>
            <a:ext cx="8321040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E0E6EF"/>
            </a:solidFill>
            <a:prstDash val="solid"/>
          </a:ln>
        </p:spPr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C099CFAA-0B8B-4B9D-118E-E9A286AC51C6}"/>
              </a:ext>
            </a:extLst>
          </p:cNvPr>
          <p:cNvSpPr/>
          <p:nvPr/>
        </p:nvSpPr>
        <p:spPr>
          <a:xfrm>
            <a:off x="2432115" y="3431868"/>
            <a:ext cx="370945" cy="117043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E57B3814-B605-F042-F7C0-36085E0B946C}"/>
              </a:ext>
            </a:extLst>
          </p:cNvPr>
          <p:cNvSpPr/>
          <p:nvPr/>
        </p:nvSpPr>
        <p:spPr>
          <a:xfrm>
            <a:off x="2921932" y="35233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52"/>
                </a:solidFill>
              </a:rPr>
              <a:t>MGM Resorts</a:t>
            </a:r>
            <a:endParaRPr lang="en-US" sz="14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E276FACF-BA82-F0FE-DEB4-395982C37A48}"/>
              </a:ext>
            </a:extLst>
          </p:cNvPr>
          <p:cNvSpPr/>
          <p:nvPr/>
        </p:nvSpPr>
        <p:spPr>
          <a:xfrm>
            <a:off x="2921932" y="38433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909C"/>
                </a:solidFill>
              </a:rPr>
              <a:t>Sep 2023</a:t>
            </a:r>
            <a:endParaRPr lang="en-US" sz="1050" dirty="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999C83FD-F8EC-7206-BCA4-F84E88F598B1}"/>
              </a:ext>
            </a:extLst>
          </p:cNvPr>
          <p:cNvSpPr/>
          <p:nvPr/>
        </p:nvSpPr>
        <p:spPr>
          <a:xfrm>
            <a:off x="2921932" y="414510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8B0000">
              <a:alpha val="12000"/>
            </a:srgbClr>
          </a:solidFill>
          <a:ln/>
        </p:spPr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FECC7FE9-6420-0D8D-E4D5-223AD117C2CD}"/>
              </a:ext>
            </a:extLst>
          </p:cNvPr>
          <p:cNvSpPr/>
          <p:nvPr/>
        </p:nvSpPr>
        <p:spPr>
          <a:xfrm>
            <a:off x="2921932" y="41451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0000"/>
                </a:solidFill>
              </a:rPr>
              <a:t>AI Social Engineering</a:t>
            </a:r>
            <a:endParaRPr lang="en-US" sz="90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90ECAC95-942C-2EA2-02C2-675DAA234040}"/>
              </a:ext>
            </a:extLst>
          </p:cNvPr>
          <p:cNvSpPr/>
          <p:nvPr/>
        </p:nvSpPr>
        <p:spPr>
          <a:xfrm>
            <a:off x="5043340" y="3523308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Hackers used LinkedIn data + AI voice spoofing to impersonate an employee on a 10-min help desk call — gaining full system access. No malware used.</a:t>
            </a:r>
            <a:endParaRPr lang="en-US" sz="110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97A09A3D-8761-87C8-75FD-2716F9C4B6A5}"/>
              </a:ext>
            </a:extLst>
          </p:cNvPr>
          <p:cNvSpPr/>
          <p:nvPr/>
        </p:nvSpPr>
        <p:spPr>
          <a:xfrm>
            <a:off x="9706779" y="3431868"/>
            <a:ext cx="1727933" cy="1170432"/>
          </a:xfrm>
          <a:prstGeom prst="rect">
            <a:avLst/>
          </a:prstGeom>
          <a:solidFill>
            <a:srgbClr val="8B0000"/>
          </a:solidFill>
          <a:ln/>
          <a:effectLst>
            <a:innerShdw blurRad="114300">
              <a:prstClr val="black"/>
            </a:innerShdw>
            <a:reflection stA="28000" endPos="65000" dist="50800" dir="5400000" sy="-100000" algn="bl" rotWithShape="0"/>
          </a:effectLst>
        </p:spPr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BCD0E34F-AEC2-401B-3F59-B28F3C917F71}"/>
              </a:ext>
            </a:extLst>
          </p:cNvPr>
          <p:cNvSpPr/>
          <p:nvPr/>
        </p:nvSpPr>
        <p:spPr>
          <a:xfrm>
            <a:off x="9706780" y="3431868"/>
            <a:ext cx="13258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$100M+ loss</a:t>
            </a:r>
            <a:endParaRPr lang="en-US" sz="1100" dirty="0"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F95C7710-4C10-8C22-B6F1-E67FEA9C4916}"/>
              </a:ext>
            </a:extLst>
          </p:cNvPr>
          <p:cNvSpPr/>
          <p:nvPr/>
        </p:nvSpPr>
        <p:spPr>
          <a:xfrm>
            <a:off x="477467" y="4702884"/>
            <a:ext cx="8321040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E0E6EF"/>
            </a:solidFill>
            <a:prstDash val="solid"/>
          </a:ln>
        </p:spPr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573FDA5F-B602-06F3-A86C-18C0296EC3A1}"/>
              </a:ext>
            </a:extLst>
          </p:cNvPr>
          <p:cNvSpPr/>
          <p:nvPr/>
        </p:nvSpPr>
        <p:spPr>
          <a:xfrm>
            <a:off x="477467" y="4702884"/>
            <a:ext cx="91440" cy="11704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44A42B0A-C205-6F1C-3E4A-7888842A7C3F}"/>
              </a:ext>
            </a:extLst>
          </p:cNvPr>
          <p:cNvSpPr/>
          <p:nvPr/>
        </p:nvSpPr>
        <p:spPr>
          <a:xfrm>
            <a:off x="687779" y="47943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D52"/>
                </a:solidFill>
              </a:rPr>
              <a:t>LastPass</a:t>
            </a:r>
            <a:endParaRPr lang="en-US" sz="1400" dirty="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59F2BFE3-75F8-9715-9AEF-274B2B7F9F64}"/>
              </a:ext>
            </a:extLst>
          </p:cNvPr>
          <p:cNvSpPr/>
          <p:nvPr/>
        </p:nvSpPr>
        <p:spPr>
          <a:xfrm>
            <a:off x="687779" y="51143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909C"/>
                </a:solidFill>
              </a:rPr>
              <a:t>2022–23</a:t>
            </a:r>
            <a:endParaRPr lang="en-US" sz="1050" dirty="0"/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464B6E83-76F8-3AAC-AE0C-B488EED38DFC}"/>
              </a:ext>
            </a:extLst>
          </p:cNvPr>
          <p:cNvSpPr/>
          <p:nvPr/>
        </p:nvSpPr>
        <p:spPr>
          <a:xfrm>
            <a:off x="687779" y="5416116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565C0">
              <a:alpha val="12000"/>
            </a:srgbClr>
          </a:solidFill>
          <a:ln/>
        </p:spPr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9B9AB766-40B1-9D02-2088-60C5A4CBDD7B}"/>
              </a:ext>
            </a:extLst>
          </p:cNvPr>
          <p:cNvSpPr/>
          <p:nvPr/>
        </p:nvSpPr>
        <p:spPr>
          <a:xfrm>
            <a:off x="687779" y="541611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</a:rPr>
              <a:t>AI-assisted Targeting</a:t>
            </a:r>
            <a:endParaRPr lang="en-US" sz="900" dirty="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A4872826-6108-E9CC-755F-C08172F2A34E}"/>
              </a:ext>
            </a:extLst>
          </p:cNvPr>
          <p:cNvSpPr/>
          <p:nvPr/>
        </p:nvSpPr>
        <p:spPr>
          <a:xfrm>
            <a:off x="2809187" y="4794324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Attackers used data from a first breach to build targeted AI prompts for a second attack on a senior engineer's home system. 25M+ users affected.</a:t>
            </a:r>
            <a:endParaRPr lang="en-US" sz="1100" dirty="0"/>
          </a:p>
        </p:txBody>
      </p:sp>
      <p:sp>
        <p:nvSpPr>
          <p:cNvPr id="33" name="Shape 27">
            <a:extLst>
              <a:ext uri="{FF2B5EF4-FFF2-40B4-BE49-F238E27FC236}">
                <a16:creationId xmlns:a16="http://schemas.microsoft.com/office/drawing/2014/main" id="{8D45B29E-A291-3F79-E4DA-949A5D989E03}"/>
              </a:ext>
            </a:extLst>
          </p:cNvPr>
          <p:cNvSpPr/>
          <p:nvPr/>
        </p:nvSpPr>
        <p:spPr>
          <a:xfrm>
            <a:off x="7472627" y="4702884"/>
            <a:ext cx="1796340" cy="1170432"/>
          </a:xfrm>
          <a:prstGeom prst="rect">
            <a:avLst/>
          </a:prstGeom>
          <a:solidFill>
            <a:srgbClr val="1565C0"/>
          </a:solidFill>
          <a:ln/>
          <a:effectLst>
            <a:innerShdw blurRad="114300">
              <a:prstClr val="black"/>
            </a:innerShdw>
            <a:reflection stA="28000" endPos="48000" dist="50800" dir="5400000" sy="-100000" algn="bl" rotWithShape="0"/>
          </a:effectLst>
        </p:spPr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82AF8246-B868-51EA-DB88-CAB1E058CA67}"/>
              </a:ext>
            </a:extLst>
          </p:cNvPr>
          <p:cNvSpPr/>
          <p:nvPr/>
        </p:nvSpPr>
        <p:spPr>
          <a:xfrm>
            <a:off x="7472627" y="4702884"/>
            <a:ext cx="13258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25M users exposed</a:t>
            </a:r>
            <a:endParaRPr lang="en-US" sz="1100" dirty="0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DAA466CF-0AFB-0814-C514-354907285F5F}"/>
              </a:ext>
            </a:extLst>
          </p:cNvPr>
          <p:cNvSpPr/>
          <p:nvPr/>
        </p:nvSpPr>
        <p:spPr>
          <a:xfrm>
            <a:off x="289560" y="6106203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8909C"/>
                </a:solidFill>
              </a:rPr>
              <a:t>Sources: CERT-In 2022 (AIIMS), MGM 8-K SEC Filing Sep 2023, LastPass Security Bulletin 2023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34695" y="6415254"/>
            <a:ext cx="2743200" cy="365125"/>
          </a:xfrm>
        </p:spPr>
        <p:txBody>
          <a:bodyPr/>
          <a:lstStyle/>
          <a:p>
            <a:fld id="{18CCF275-3B26-4683-A5E0-2047E693BFCA}" type="datetime1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3672-A5C7-4E13-8CD6-E741C07F6029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CB97FB-3925-A375-EE4F-753C0168C59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305" y="57153"/>
            <a:ext cx="1371599" cy="13715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66F75D-11E2-6A78-9581-403E7869E8B7}"/>
              </a:ext>
            </a:extLst>
          </p:cNvPr>
          <p:cNvSpPr txBox="1"/>
          <p:nvPr/>
        </p:nvSpPr>
        <p:spPr>
          <a:xfrm>
            <a:off x="2174239" y="241758"/>
            <a:ext cx="91846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BABU BANARASI DAS UNIVERSITY ,LUCKNOW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APPLICATION (DS &amp; AI)</a:t>
            </a:r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AB0EB5D0-9338-6F6D-5B63-6555C901A858}"/>
              </a:ext>
            </a:extLst>
          </p:cNvPr>
          <p:cNvSpPr/>
          <p:nvPr/>
        </p:nvSpPr>
        <p:spPr>
          <a:xfrm>
            <a:off x="2215874" y="1172211"/>
            <a:ext cx="9144000" cy="64008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986FE6E5-515A-2887-5ED8-B4BDFAB64EFA}"/>
              </a:ext>
            </a:extLst>
          </p:cNvPr>
          <p:cNvSpPr/>
          <p:nvPr/>
        </p:nvSpPr>
        <p:spPr>
          <a:xfrm>
            <a:off x="381000" y="151539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52"/>
                </a:solidFill>
              </a:rPr>
              <a:t>AI in Cyber Defense</a:t>
            </a:r>
            <a:endParaRPr lang="en-US" sz="26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81B2B39-0914-DCDC-679D-7AD52D78C95A}"/>
              </a:ext>
            </a:extLst>
          </p:cNvPr>
          <p:cNvGrpSpPr/>
          <p:nvPr/>
        </p:nvGrpSpPr>
        <p:grpSpPr>
          <a:xfrm>
            <a:off x="114305" y="2123187"/>
            <a:ext cx="4469111" cy="1207008"/>
            <a:chOff x="114305" y="2123187"/>
            <a:chExt cx="4469111" cy="1207008"/>
          </a:xfrm>
        </p:grpSpPr>
        <p:sp>
          <p:nvSpPr>
            <p:cNvPr id="8" name="Shape 2">
              <a:extLst>
                <a:ext uri="{FF2B5EF4-FFF2-40B4-BE49-F238E27FC236}">
                  <a16:creationId xmlns:a16="http://schemas.microsoft.com/office/drawing/2014/main" id="{99527315-3BAF-6F98-9AB2-FF0560A60A96}"/>
                </a:ext>
              </a:extLst>
            </p:cNvPr>
            <p:cNvSpPr/>
            <p:nvPr/>
          </p:nvSpPr>
          <p:spPr>
            <a:xfrm>
              <a:off x="468616" y="2123187"/>
              <a:ext cx="4114800" cy="1207008"/>
            </a:xfrm>
            <a:prstGeom prst="rect">
              <a:avLst/>
            </a:prstGeom>
            <a:solidFill>
              <a:srgbClr val="F1F8F1"/>
            </a:solidFill>
            <a:ln w="10160">
              <a:solidFill>
                <a:srgbClr val="C8E6C9"/>
              </a:solidFill>
              <a:prstDash val="solid"/>
            </a:ln>
            <a:effectLst>
              <a:glow>
                <a:schemeClr val="accent1">
                  <a:alpha val="40000"/>
                </a:schemeClr>
              </a:glow>
              <a:outerShdw blurRad="50800" dist="38100" dir="13500000" algn="br" rotWithShape="0">
                <a:prstClr val="black">
                  <a:alpha val="40000"/>
                </a:prstClr>
              </a:outerShdw>
              <a:softEdge rad="0"/>
            </a:effectLst>
            <a:scene3d>
              <a:camera prst="orthographicFront"/>
              <a:lightRig rig="threePt" dir="t"/>
            </a:scene3d>
            <a:sp3d>
              <a:bevelT w="152400" h="50800" prst="softRound"/>
              <a:bevelB w="139700" h="139700" prst="divot"/>
            </a:sp3d>
          </p:spPr>
        </p:sp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3AC85C7F-1321-EB75-91B9-DC01F46C7F11}"/>
                </a:ext>
              </a:extLst>
            </p:cNvPr>
            <p:cNvSpPr/>
            <p:nvPr/>
          </p:nvSpPr>
          <p:spPr>
            <a:xfrm>
              <a:off x="114305" y="2123187"/>
              <a:ext cx="427463" cy="1207008"/>
            </a:xfrm>
            <a:prstGeom prst="rect">
              <a:avLst/>
            </a:prstGeom>
            <a:solidFill>
              <a:srgbClr val="002060"/>
            </a:solidFill>
            <a:ln/>
            <a:effectLst>
              <a:glow>
                <a:schemeClr val="accent1">
                  <a:alpha val="40000"/>
                </a:schemeClr>
              </a:glow>
              <a:outerShdw blurRad="50800" dist="38100" dir="13500000" algn="br" rotWithShape="0">
                <a:prstClr val="black">
                  <a:alpha val="40000"/>
                </a:prstClr>
              </a:outerShdw>
              <a:softEdge rad="0"/>
            </a:effectLst>
            <a:scene3d>
              <a:camera prst="orthographicFront"/>
              <a:lightRig rig="threePt" dir="t"/>
            </a:scene3d>
            <a:sp3d>
              <a:bevelT w="152400" h="50800" prst="softRound"/>
              <a:bevelB w="139700" h="139700" prst="divot"/>
            </a:sp3d>
          </p:spPr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3177A830-1ECF-B95F-7124-99C539489769}"/>
                </a:ext>
              </a:extLst>
            </p:cNvPr>
            <p:cNvSpPr/>
            <p:nvPr/>
          </p:nvSpPr>
          <p:spPr>
            <a:xfrm>
              <a:off x="651496" y="2196339"/>
              <a:ext cx="3840480" cy="292608"/>
            </a:xfrm>
            <a:prstGeom prst="rect">
              <a:avLst/>
            </a:prstGeom>
            <a:noFill/>
            <a:ln/>
            <a:effectLst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002060"/>
                  </a:solidFill>
                </a:rPr>
                <a:t>Behavioural Anomaly Detection</a:t>
              </a:r>
              <a:endParaRPr lang="en-US" sz="1250" dirty="0">
                <a:solidFill>
                  <a:srgbClr val="002060"/>
                </a:solidFill>
              </a:endParaRPr>
            </a:p>
          </p:txBody>
        </p:sp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826B94D9-3ABF-E4F1-0C87-CFBE11528786}"/>
                </a:ext>
              </a:extLst>
            </p:cNvPr>
            <p:cNvSpPr/>
            <p:nvPr/>
          </p:nvSpPr>
          <p:spPr>
            <a:xfrm>
              <a:off x="651496" y="2507235"/>
              <a:ext cx="3840480" cy="548640"/>
            </a:xfrm>
            <a:prstGeom prst="rect">
              <a:avLst/>
            </a:prstGeom>
            <a:noFill/>
            <a:ln/>
            <a:effectLst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7474F"/>
                  </a:solidFill>
                </a:rPr>
                <a:t>AI builds a baseline of normal user/system behaviour. Any deviation (unusual login time, new country) triggers an alert. Darktrace's 'Enterprise Immune System' blocks threats in &lt;2 seconds.</a:t>
              </a:r>
              <a:endParaRPr lang="en-US" sz="1000" dirty="0"/>
            </a:p>
          </p:txBody>
        </p:sp>
        <p:sp>
          <p:nvSpPr>
            <p:cNvPr id="12" name="Text 6">
              <a:extLst>
                <a:ext uri="{FF2B5EF4-FFF2-40B4-BE49-F238E27FC236}">
                  <a16:creationId xmlns:a16="http://schemas.microsoft.com/office/drawing/2014/main" id="{EDA8900F-908F-AC98-82D4-038637C81391}"/>
                </a:ext>
              </a:extLst>
            </p:cNvPr>
            <p:cNvSpPr/>
            <p:nvPr/>
          </p:nvSpPr>
          <p:spPr>
            <a:xfrm>
              <a:off x="651496" y="3037587"/>
              <a:ext cx="3840480" cy="228600"/>
            </a:xfrm>
            <a:prstGeom prst="rect">
              <a:avLst/>
            </a:prstGeom>
            <a:noFill/>
            <a:ln/>
            <a:effectLst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i="1" dirty="0">
                  <a:solidFill>
                    <a:srgbClr val="2E7D32"/>
                  </a:solidFill>
                </a:rPr>
                <a:t>→ 99.3% detection rate (Darktrace, 2023)</a:t>
              </a:r>
              <a:endParaRPr lang="en-US" sz="95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E4C34B5-8D9C-0466-72FA-8BD471717F57}"/>
              </a:ext>
            </a:extLst>
          </p:cNvPr>
          <p:cNvGrpSpPr/>
          <p:nvPr/>
        </p:nvGrpSpPr>
        <p:grpSpPr>
          <a:xfrm>
            <a:off x="4857735" y="2123187"/>
            <a:ext cx="4974421" cy="1207008"/>
            <a:chOff x="4857735" y="2123187"/>
            <a:chExt cx="4974421" cy="1207008"/>
          </a:xfrm>
        </p:grpSpPr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C1A5DC14-7403-6D41-4196-17053DB4C482}"/>
                </a:ext>
              </a:extLst>
            </p:cNvPr>
            <p:cNvSpPr/>
            <p:nvPr/>
          </p:nvSpPr>
          <p:spPr>
            <a:xfrm>
              <a:off x="4857735" y="2123187"/>
              <a:ext cx="4974421" cy="1207008"/>
            </a:xfrm>
            <a:prstGeom prst="rect">
              <a:avLst/>
            </a:prstGeom>
            <a:solidFill>
              <a:srgbClr val="F1F8F1"/>
            </a:solidFill>
            <a:ln w="10160">
              <a:solidFill>
                <a:srgbClr val="C8E6C9"/>
              </a:solidFill>
              <a:prstDash val="solid"/>
            </a:ln>
            <a:effectLst>
              <a:glow>
                <a:schemeClr val="accent1">
                  <a:alpha val="40000"/>
                </a:schemeClr>
              </a:glow>
              <a:outerShdw blurRad="50800" dist="38100" dir="13500000" algn="br" rotWithShape="0">
                <a:prstClr val="black">
                  <a:alpha val="40000"/>
                </a:prstClr>
              </a:outerShdw>
              <a:softEdge rad="0"/>
            </a:effectLst>
            <a:scene3d>
              <a:camera prst="orthographicFront"/>
              <a:lightRig rig="threePt" dir="t"/>
            </a:scene3d>
            <a:sp3d>
              <a:bevelT w="152400" h="50800" prst="softRound"/>
              <a:bevelB w="139700" h="139700" prst="divot"/>
            </a:sp3d>
          </p:spPr>
        </p: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5DD1C44E-ABCB-8B6C-2AA7-A0AE45A019DF}"/>
                </a:ext>
              </a:extLst>
            </p:cNvPr>
            <p:cNvSpPr/>
            <p:nvPr/>
          </p:nvSpPr>
          <p:spPr>
            <a:xfrm>
              <a:off x="4857736" y="2123187"/>
              <a:ext cx="73152" cy="1207008"/>
            </a:xfrm>
            <a:prstGeom prst="rect">
              <a:avLst/>
            </a:prstGeom>
            <a:solidFill>
              <a:srgbClr val="990F30"/>
            </a:solidFill>
            <a:ln/>
            <a:effectLst>
              <a:glow>
                <a:schemeClr val="accent1">
                  <a:alpha val="40000"/>
                </a:schemeClr>
              </a:glow>
              <a:outerShdw blurRad="50800" dist="38100" dir="13500000" algn="br" rotWithShape="0">
                <a:prstClr val="black">
                  <a:alpha val="40000"/>
                </a:prstClr>
              </a:outerShdw>
              <a:softEdge rad="0"/>
            </a:effectLst>
            <a:scene3d>
              <a:camera prst="orthographicFront"/>
              <a:lightRig rig="threePt" dir="t"/>
            </a:scene3d>
            <a:sp3d>
              <a:bevelT w="152400" h="50800" prst="softRound"/>
              <a:bevelB w="139700" h="139700" prst="divot"/>
            </a:sp3d>
          </p:spPr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BB3DD875-7139-7E7E-FD77-11DC2CDA4CF4}"/>
                </a:ext>
              </a:extLst>
            </p:cNvPr>
            <p:cNvSpPr/>
            <p:nvPr/>
          </p:nvSpPr>
          <p:spPr>
            <a:xfrm>
              <a:off x="5040616" y="2196339"/>
              <a:ext cx="3840480" cy="292608"/>
            </a:xfrm>
            <a:prstGeom prst="rect">
              <a:avLst/>
            </a:prstGeom>
            <a:noFill/>
            <a:ln/>
            <a:effectLst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990F30"/>
                  </a:solidFill>
                </a:rPr>
                <a:t>Automated Threat Hunting</a:t>
              </a:r>
              <a:endParaRPr lang="en-US" sz="1250" dirty="0">
                <a:solidFill>
                  <a:srgbClr val="990F30"/>
                </a:solidFill>
              </a:endParaRPr>
            </a:p>
          </p:txBody>
        </p:sp>
        <p:sp>
          <p:nvSpPr>
            <p:cNvPr id="16" name="Text 10">
              <a:extLst>
                <a:ext uri="{FF2B5EF4-FFF2-40B4-BE49-F238E27FC236}">
                  <a16:creationId xmlns:a16="http://schemas.microsoft.com/office/drawing/2014/main" id="{EAFD43AF-A553-FBDB-6169-EB1059CA162D}"/>
                </a:ext>
              </a:extLst>
            </p:cNvPr>
            <p:cNvSpPr/>
            <p:nvPr/>
          </p:nvSpPr>
          <p:spPr>
            <a:xfrm>
              <a:off x="5040616" y="2507235"/>
              <a:ext cx="3840480" cy="548640"/>
            </a:xfrm>
            <a:prstGeom prst="rect">
              <a:avLst/>
            </a:prstGeom>
            <a:noFill/>
            <a:ln/>
            <a:effectLst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7474F"/>
                  </a:solidFill>
                </a:rPr>
                <a:t>CrowdStrike Falcon uses ML to scan billions of events/day, correlating across endpoints globally to find hidden attack patterns before damage occurs.</a:t>
              </a:r>
              <a:endParaRPr lang="en-US" sz="1000" dirty="0"/>
            </a:p>
          </p:txBody>
        </p:sp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9C0FF813-1BA8-4D29-9281-23983BD73B4D}"/>
                </a:ext>
              </a:extLst>
            </p:cNvPr>
            <p:cNvSpPr/>
            <p:nvPr/>
          </p:nvSpPr>
          <p:spPr>
            <a:xfrm>
              <a:off x="5040616" y="3037587"/>
              <a:ext cx="3840480" cy="228600"/>
            </a:xfrm>
            <a:prstGeom prst="rect">
              <a:avLst/>
            </a:prstGeom>
            <a:noFill/>
            <a:ln/>
            <a:effectLst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i="1" dirty="0">
                  <a:solidFill>
                    <a:srgbClr val="2E7D32"/>
                  </a:solidFill>
                </a:rPr>
                <a:t>→ Avg. dwell time cut from 21 days → 1 day</a:t>
              </a:r>
              <a:endParaRPr lang="en-US" sz="950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3A1DC0A-D8B3-0528-6C9D-BD776280F2DF}"/>
              </a:ext>
            </a:extLst>
          </p:cNvPr>
          <p:cNvGrpSpPr/>
          <p:nvPr/>
        </p:nvGrpSpPr>
        <p:grpSpPr>
          <a:xfrm>
            <a:off x="7917730" y="3375406"/>
            <a:ext cx="4274270" cy="1207008"/>
            <a:chOff x="7917730" y="3375406"/>
            <a:chExt cx="4274270" cy="1207008"/>
          </a:xfrm>
        </p:grpSpPr>
        <p:sp>
          <p:nvSpPr>
            <p:cNvPr id="23" name="Shape 17">
              <a:extLst>
                <a:ext uri="{FF2B5EF4-FFF2-40B4-BE49-F238E27FC236}">
                  <a16:creationId xmlns:a16="http://schemas.microsoft.com/office/drawing/2014/main" id="{3130C7B8-E49E-5A9A-4895-57127B4E8AFF}"/>
                </a:ext>
              </a:extLst>
            </p:cNvPr>
            <p:cNvSpPr/>
            <p:nvPr/>
          </p:nvSpPr>
          <p:spPr>
            <a:xfrm>
              <a:off x="7917730" y="3375406"/>
              <a:ext cx="4274270" cy="1207008"/>
            </a:xfrm>
            <a:prstGeom prst="rect">
              <a:avLst/>
            </a:prstGeom>
            <a:solidFill>
              <a:srgbClr val="F1F8F1"/>
            </a:solidFill>
            <a:ln w="10160">
              <a:solidFill>
                <a:srgbClr val="C8E6C9"/>
              </a:solidFill>
              <a:prstDash val="solid"/>
            </a:ln>
            <a:effectLst>
              <a:glow>
                <a:schemeClr val="accent1">
                  <a:alpha val="40000"/>
                </a:schemeClr>
              </a:glow>
              <a:outerShdw blurRad="50800" dist="38100" dir="13500000" algn="br" rotWithShape="0">
                <a:prstClr val="black">
                  <a:alpha val="40000"/>
                </a:prstClr>
              </a:outerShdw>
              <a:softEdge rad="0"/>
            </a:effectLst>
            <a:scene3d>
              <a:camera prst="orthographicFront"/>
              <a:lightRig rig="threePt" dir="t"/>
            </a:scene3d>
            <a:sp3d>
              <a:bevelT w="152400" h="50800" prst="softRound"/>
              <a:bevelB w="139700" h="139700" prst="divot"/>
            </a:sp3d>
          </p:spPr>
        </p:sp>
        <p:sp>
          <p:nvSpPr>
            <p:cNvPr id="24" name="Shape 18">
              <a:extLst>
                <a:ext uri="{FF2B5EF4-FFF2-40B4-BE49-F238E27FC236}">
                  <a16:creationId xmlns:a16="http://schemas.microsoft.com/office/drawing/2014/main" id="{A80F7784-F40A-13D5-4E01-2874FDC4DC65}"/>
                </a:ext>
              </a:extLst>
            </p:cNvPr>
            <p:cNvSpPr/>
            <p:nvPr/>
          </p:nvSpPr>
          <p:spPr>
            <a:xfrm>
              <a:off x="7917730" y="3375406"/>
              <a:ext cx="73152" cy="1207008"/>
            </a:xfrm>
            <a:prstGeom prst="rect">
              <a:avLst/>
            </a:prstGeom>
            <a:solidFill>
              <a:srgbClr val="002060"/>
            </a:solidFill>
            <a:ln/>
            <a:effectLst>
              <a:glow>
                <a:schemeClr val="accent1">
                  <a:alpha val="40000"/>
                </a:schemeClr>
              </a:glow>
              <a:outerShdw blurRad="50800" dist="38100" dir="13500000" algn="br" rotWithShape="0">
                <a:prstClr val="black">
                  <a:alpha val="40000"/>
                </a:prstClr>
              </a:outerShdw>
              <a:softEdge rad="0"/>
            </a:effectLst>
            <a:scene3d>
              <a:camera prst="orthographicFront"/>
              <a:lightRig rig="threePt" dir="t"/>
            </a:scene3d>
            <a:sp3d>
              <a:bevelT w="152400" h="50800" prst="softRound"/>
              <a:bevelB w="139700" h="139700" prst="divot"/>
            </a:sp3d>
          </p:spPr>
        </p:sp>
        <p:sp>
          <p:nvSpPr>
            <p:cNvPr id="25" name="Text 19">
              <a:extLst>
                <a:ext uri="{FF2B5EF4-FFF2-40B4-BE49-F238E27FC236}">
                  <a16:creationId xmlns:a16="http://schemas.microsoft.com/office/drawing/2014/main" id="{BEF62499-DBE3-DECE-5697-DBD51E6FC7DB}"/>
                </a:ext>
              </a:extLst>
            </p:cNvPr>
            <p:cNvSpPr/>
            <p:nvPr/>
          </p:nvSpPr>
          <p:spPr>
            <a:xfrm>
              <a:off x="8100610" y="3448558"/>
              <a:ext cx="3840480" cy="292608"/>
            </a:xfrm>
            <a:prstGeom prst="rect">
              <a:avLst/>
            </a:prstGeom>
            <a:noFill/>
            <a:ln/>
            <a:effectLst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002060"/>
                  </a:solidFill>
                </a:rPr>
                <a:t>Phishing &amp; Email Filtering</a:t>
              </a:r>
              <a:endParaRPr lang="en-US" sz="1250" dirty="0">
                <a:solidFill>
                  <a:srgbClr val="002060"/>
                </a:solidFill>
              </a:endParaRPr>
            </a:p>
          </p:txBody>
        </p:sp>
        <p:sp>
          <p:nvSpPr>
            <p:cNvPr id="26" name="Text 20">
              <a:extLst>
                <a:ext uri="{FF2B5EF4-FFF2-40B4-BE49-F238E27FC236}">
                  <a16:creationId xmlns:a16="http://schemas.microsoft.com/office/drawing/2014/main" id="{69E718DD-0F11-9C92-F686-5EC1A1D66B87}"/>
                </a:ext>
              </a:extLst>
            </p:cNvPr>
            <p:cNvSpPr/>
            <p:nvPr/>
          </p:nvSpPr>
          <p:spPr>
            <a:xfrm>
              <a:off x="8100610" y="3759454"/>
              <a:ext cx="3840480" cy="548640"/>
            </a:xfrm>
            <a:prstGeom prst="rect">
              <a:avLst/>
            </a:prstGeom>
            <a:noFill/>
            <a:ln/>
            <a:effectLst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7474F"/>
                  </a:solidFill>
                </a:rPr>
                <a:t>Proofpoint AI scores every incoming email for risk — tone, sender, links, context. Catches AI-written spear-phishing that bypasses traditional signature filters.</a:t>
              </a:r>
              <a:endParaRPr lang="en-US" sz="1000" dirty="0"/>
            </a:p>
          </p:txBody>
        </p:sp>
        <p:sp>
          <p:nvSpPr>
            <p:cNvPr id="27" name="Text 21">
              <a:extLst>
                <a:ext uri="{FF2B5EF4-FFF2-40B4-BE49-F238E27FC236}">
                  <a16:creationId xmlns:a16="http://schemas.microsoft.com/office/drawing/2014/main" id="{875C6E75-D789-B1CF-3D8D-3B221729BCEC}"/>
                </a:ext>
              </a:extLst>
            </p:cNvPr>
            <p:cNvSpPr/>
            <p:nvPr/>
          </p:nvSpPr>
          <p:spPr>
            <a:xfrm>
              <a:off x="8100610" y="4289806"/>
              <a:ext cx="3840480" cy="228600"/>
            </a:xfrm>
            <a:prstGeom prst="rect">
              <a:avLst/>
            </a:prstGeom>
            <a:noFill/>
            <a:ln/>
            <a:effectLst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i="1" dirty="0">
                  <a:solidFill>
                    <a:srgbClr val="2E7D32"/>
                  </a:solidFill>
                </a:rPr>
                <a:t>→ Blocked 2.6B phishing emails/day in 2024</a:t>
              </a:r>
              <a:endParaRPr lang="en-US" sz="950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89E88B6-2C45-6A5A-3519-F2020DDEAE7D}"/>
              </a:ext>
            </a:extLst>
          </p:cNvPr>
          <p:cNvGrpSpPr/>
          <p:nvPr/>
        </p:nvGrpSpPr>
        <p:grpSpPr>
          <a:xfrm>
            <a:off x="114305" y="4646931"/>
            <a:ext cx="4816583" cy="1207008"/>
            <a:chOff x="114305" y="4646931"/>
            <a:chExt cx="4816583" cy="1207008"/>
          </a:xfrm>
        </p:grpSpPr>
        <p:sp>
          <p:nvSpPr>
            <p:cNvPr id="28" name="Shape 22">
              <a:extLst>
                <a:ext uri="{FF2B5EF4-FFF2-40B4-BE49-F238E27FC236}">
                  <a16:creationId xmlns:a16="http://schemas.microsoft.com/office/drawing/2014/main" id="{51B22EED-D439-2A36-E866-472E5135CEF2}"/>
                </a:ext>
              </a:extLst>
            </p:cNvPr>
            <p:cNvSpPr/>
            <p:nvPr/>
          </p:nvSpPr>
          <p:spPr>
            <a:xfrm>
              <a:off x="468616" y="4646931"/>
              <a:ext cx="4114800" cy="1207008"/>
            </a:xfrm>
            <a:prstGeom prst="rect">
              <a:avLst/>
            </a:prstGeom>
            <a:solidFill>
              <a:srgbClr val="F1F8F1"/>
            </a:solidFill>
            <a:ln w="10160">
              <a:solidFill>
                <a:srgbClr val="C8E6C9"/>
              </a:solidFill>
              <a:prstDash val="solid"/>
            </a:ln>
            <a:effectLst>
              <a:glow>
                <a:schemeClr val="accent1">
                  <a:alpha val="40000"/>
                </a:schemeClr>
              </a:glow>
              <a:outerShdw blurRad="50800" dist="38100" dir="13500000" algn="br" rotWithShape="0">
                <a:prstClr val="black">
                  <a:alpha val="40000"/>
                </a:prstClr>
              </a:outerShdw>
              <a:softEdge rad="0"/>
            </a:effectLst>
            <a:scene3d>
              <a:camera prst="orthographicFront"/>
              <a:lightRig rig="threePt" dir="t"/>
            </a:scene3d>
            <a:sp3d>
              <a:bevelT w="152400" h="50800" prst="softRound"/>
              <a:bevelB w="139700" h="139700" prst="divot"/>
            </a:sp3d>
          </p:spPr>
        </p:sp>
        <p:sp>
          <p:nvSpPr>
            <p:cNvPr id="29" name="Shape 23">
              <a:extLst>
                <a:ext uri="{FF2B5EF4-FFF2-40B4-BE49-F238E27FC236}">
                  <a16:creationId xmlns:a16="http://schemas.microsoft.com/office/drawing/2014/main" id="{42AD1421-34D5-71D7-D4A3-951D5C3FA508}"/>
                </a:ext>
              </a:extLst>
            </p:cNvPr>
            <p:cNvSpPr/>
            <p:nvPr/>
          </p:nvSpPr>
          <p:spPr>
            <a:xfrm>
              <a:off x="114305" y="4646931"/>
              <a:ext cx="427463" cy="1207008"/>
            </a:xfrm>
            <a:prstGeom prst="rect">
              <a:avLst/>
            </a:prstGeom>
            <a:solidFill>
              <a:srgbClr val="002060"/>
            </a:solidFill>
            <a:ln/>
            <a:effectLst>
              <a:glow>
                <a:schemeClr val="accent1">
                  <a:alpha val="40000"/>
                </a:schemeClr>
              </a:glow>
              <a:outerShdw blurRad="50800" dist="38100" dir="13500000" algn="br" rotWithShape="0">
                <a:prstClr val="black">
                  <a:alpha val="40000"/>
                </a:prstClr>
              </a:outerShdw>
              <a:softEdge rad="0"/>
            </a:effectLst>
            <a:scene3d>
              <a:camera prst="orthographicFront"/>
              <a:lightRig rig="threePt" dir="t"/>
            </a:scene3d>
            <a:sp3d>
              <a:bevelT w="152400" h="50800" prst="softRound"/>
              <a:bevelB w="139700" h="139700" prst="divot"/>
            </a:sp3d>
          </p:spPr>
        </p:sp>
        <p:sp>
          <p:nvSpPr>
            <p:cNvPr id="30" name="Text 24">
              <a:extLst>
                <a:ext uri="{FF2B5EF4-FFF2-40B4-BE49-F238E27FC236}">
                  <a16:creationId xmlns:a16="http://schemas.microsoft.com/office/drawing/2014/main" id="{8046B0CF-5F9D-F0B5-2A15-3B41EEE41323}"/>
                </a:ext>
              </a:extLst>
            </p:cNvPr>
            <p:cNvSpPr/>
            <p:nvPr/>
          </p:nvSpPr>
          <p:spPr>
            <a:xfrm>
              <a:off x="651496" y="4720083"/>
              <a:ext cx="3840480" cy="292608"/>
            </a:xfrm>
            <a:prstGeom prst="rect">
              <a:avLst/>
            </a:prstGeom>
            <a:noFill/>
            <a:ln/>
            <a:effectLst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002060"/>
                  </a:solidFill>
                </a:rPr>
                <a:t>Deception Technology</a:t>
              </a:r>
              <a:endParaRPr lang="en-US" sz="1250" dirty="0">
                <a:solidFill>
                  <a:srgbClr val="002060"/>
                </a:solidFill>
              </a:endParaRPr>
            </a:p>
          </p:txBody>
        </p:sp>
        <p:sp>
          <p:nvSpPr>
            <p:cNvPr id="31" name="Text 25">
              <a:extLst>
                <a:ext uri="{FF2B5EF4-FFF2-40B4-BE49-F238E27FC236}">
                  <a16:creationId xmlns:a16="http://schemas.microsoft.com/office/drawing/2014/main" id="{BF95D052-5880-D566-4AB1-CBE254347CD2}"/>
                </a:ext>
              </a:extLst>
            </p:cNvPr>
            <p:cNvSpPr/>
            <p:nvPr/>
          </p:nvSpPr>
          <p:spPr>
            <a:xfrm>
              <a:off x="651496" y="5030979"/>
              <a:ext cx="3840480" cy="548640"/>
            </a:xfrm>
            <a:prstGeom prst="rect">
              <a:avLst/>
            </a:prstGeom>
            <a:noFill/>
            <a:ln/>
            <a:effectLst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7474F"/>
                  </a:solidFill>
                </a:rPr>
                <a:t>AI plants fake credentials and honeypot servers. Any attacker touching them is immediately flagged. Companies like Attivo Networks use this to catch insider threats.</a:t>
              </a:r>
              <a:endParaRPr lang="en-US" sz="1000" dirty="0"/>
            </a:p>
          </p:txBody>
        </p:sp>
        <p:sp>
          <p:nvSpPr>
            <p:cNvPr id="32" name="Text 26">
              <a:extLst>
                <a:ext uri="{FF2B5EF4-FFF2-40B4-BE49-F238E27FC236}">
                  <a16:creationId xmlns:a16="http://schemas.microsoft.com/office/drawing/2014/main" id="{E7244DED-532E-CFD0-7977-2B7D9E435545}"/>
                </a:ext>
              </a:extLst>
            </p:cNvPr>
            <p:cNvSpPr/>
            <p:nvPr/>
          </p:nvSpPr>
          <p:spPr>
            <a:xfrm>
              <a:off x="651496" y="5561331"/>
              <a:ext cx="3840480" cy="228600"/>
            </a:xfrm>
            <a:prstGeom prst="rect">
              <a:avLst/>
            </a:prstGeom>
            <a:noFill/>
            <a:ln/>
            <a:effectLst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i="1" dirty="0">
                  <a:solidFill>
                    <a:srgbClr val="2E7D32"/>
                  </a:solidFill>
                </a:rPr>
                <a:t>→ Detects lateral movement in &lt;30 mins</a:t>
              </a:r>
              <a:endParaRPr lang="en-US" sz="950" dirty="0"/>
            </a:p>
          </p:txBody>
        </p:sp>
        <p:sp>
          <p:nvSpPr>
            <p:cNvPr id="34" name="Shape 28">
              <a:extLst>
                <a:ext uri="{FF2B5EF4-FFF2-40B4-BE49-F238E27FC236}">
                  <a16:creationId xmlns:a16="http://schemas.microsoft.com/office/drawing/2014/main" id="{39041AC6-B0B5-7558-3A9C-3C2AC9EE83DE}"/>
                </a:ext>
              </a:extLst>
            </p:cNvPr>
            <p:cNvSpPr/>
            <p:nvPr/>
          </p:nvSpPr>
          <p:spPr>
            <a:xfrm>
              <a:off x="4857736" y="4646931"/>
              <a:ext cx="73152" cy="1207008"/>
            </a:xfrm>
            <a:prstGeom prst="rect">
              <a:avLst/>
            </a:prstGeom>
            <a:solidFill>
              <a:srgbClr val="990F30"/>
            </a:solidFill>
            <a:ln/>
            <a:effectLst>
              <a:glow>
                <a:schemeClr val="accent1">
                  <a:alpha val="40000"/>
                </a:schemeClr>
              </a:glow>
              <a:outerShdw blurRad="50800" dist="38100" dir="13500000" algn="br" rotWithShape="0">
                <a:prstClr val="black">
                  <a:alpha val="40000"/>
                </a:prstClr>
              </a:outerShdw>
              <a:softEdge rad="0"/>
            </a:effectLst>
            <a:scene3d>
              <a:camera prst="orthographicFront"/>
              <a:lightRig rig="threePt" dir="t"/>
            </a:scene3d>
            <a:sp3d>
              <a:bevelT w="152400" h="50800" prst="softRound"/>
              <a:bevelB w="139700" h="139700" prst="divot"/>
            </a:sp3d>
          </p:spPr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E1D4D27-C265-809D-5D94-909F7D97841A}"/>
              </a:ext>
            </a:extLst>
          </p:cNvPr>
          <p:cNvGrpSpPr/>
          <p:nvPr/>
        </p:nvGrpSpPr>
        <p:grpSpPr>
          <a:xfrm>
            <a:off x="4857736" y="4646931"/>
            <a:ext cx="4974420" cy="1207008"/>
            <a:chOff x="4857736" y="4646931"/>
            <a:chExt cx="4974420" cy="1207008"/>
          </a:xfrm>
        </p:grpSpPr>
        <p:sp>
          <p:nvSpPr>
            <p:cNvPr id="33" name="Shape 27">
              <a:extLst>
                <a:ext uri="{FF2B5EF4-FFF2-40B4-BE49-F238E27FC236}">
                  <a16:creationId xmlns:a16="http://schemas.microsoft.com/office/drawing/2014/main" id="{1F3BF3D4-1C4E-2988-9829-0AB0607DA933}"/>
                </a:ext>
              </a:extLst>
            </p:cNvPr>
            <p:cNvSpPr/>
            <p:nvPr/>
          </p:nvSpPr>
          <p:spPr>
            <a:xfrm>
              <a:off x="4857736" y="4646931"/>
              <a:ext cx="4974420" cy="1207008"/>
            </a:xfrm>
            <a:prstGeom prst="rect">
              <a:avLst/>
            </a:prstGeom>
            <a:solidFill>
              <a:srgbClr val="F1F8F1"/>
            </a:solidFill>
            <a:ln w="10160">
              <a:solidFill>
                <a:srgbClr val="C8E6C9"/>
              </a:solidFill>
              <a:prstDash val="solid"/>
            </a:ln>
            <a:effectLst>
              <a:glow>
                <a:schemeClr val="accent1">
                  <a:alpha val="40000"/>
                </a:schemeClr>
              </a:glow>
              <a:outerShdw blurRad="50800" dist="38100" dir="13500000" algn="br" rotWithShape="0">
                <a:prstClr val="black">
                  <a:alpha val="40000"/>
                </a:prstClr>
              </a:outerShdw>
              <a:softEdge rad="0"/>
            </a:effectLst>
            <a:scene3d>
              <a:camera prst="orthographicFront"/>
              <a:lightRig rig="threePt" dir="t"/>
            </a:scene3d>
            <a:sp3d>
              <a:bevelT w="152400" h="50800" prst="softRound"/>
              <a:bevelB w="139700" h="139700" prst="divot"/>
            </a:sp3d>
          </p:spPr>
        </p:sp>
        <p:sp>
          <p:nvSpPr>
            <p:cNvPr id="35" name="Text 29">
              <a:extLst>
                <a:ext uri="{FF2B5EF4-FFF2-40B4-BE49-F238E27FC236}">
                  <a16:creationId xmlns:a16="http://schemas.microsoft.com/office/drawing/2014/main" id="{E3F6182E-71CC-CC4D-EC8F-AB2934139B0C}"/>
                </a:ext>
              </a:extLst>
            </p:cNvPr>
            <p:cNvSpPr/>
            <p:nvPr/>
          </p:nvSpPr>
          <p:spPr>
            <a:xfrm>
              <a:off x="5040616" y="4720083"/>
              <a:ext cx="3840480" cy="292608"/>
            </a:xfrm>
            <a:prstGeom prst="rect">
              <a:avLst/>
            </a:prstGeom>
            <a:noFill/>
            <a:ln/>
            <a:effectLst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990F30"/>
                  </a:solidFill>
                </a:rPr>
                <a:t>Vulnerability Prioritisation</a:t>
              </a:r>
              <a:endParaRPr lang="en-US" sz="1250" dirty="0">
                <a:solidFill>
                  <a:srgbClr val="990F30"/>
                </a:solidFill>
              </a:endParaRPr>
            </a:p>
          </p:txBody>
        </p:sp>
        <p:sp>
          <p:nvSpPr>
            <p:cNvPr id="36" name="Text 30">
              <a:extLst>
                <a:ext uri="{FF2B5EF4-FFF2-40B4-BE49-F238E27FC236}">
                  <a16:creationId xmlns:a16="http://schemas.microsoft.com/office/drawing/2014/main" id="{05230238-F072-A28B-C035-42524B4C1F54}"/>
                </a:ext>
              </a:extLst>
            </p:cNvPr>
            <p:cNvSpPr/>
            <p:nvPr/>
          </p:nvSpPr>
          <p:spPr>
            <a:xfrm>
              <a:off x="5040616" y="5030979"/>
              <a:ext cx="3840480" cy="548640"/>
            </a:xfrm>
            <a:prstGeom prst="rect">
              <a:avLst/>
            </a:prstGeom>
            <a:noFill/>
            <a:ln/>
            <a:effectLst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7474F"/>
                  </a:solidFill>
                </a:rPr>
                <a:t>AI tools like Tenable.io rank vulnerabilities by actual exploitability (not just CVSS score), helping teams patch the 5% of vulnerabilities that actually get exploited first.</a:t>
              </a:r>
              <a:endParaRPr lang="en-US" sz="1000" dirty="0"/>
            </a:p>
          </p:txBody>
        </p:sp>
        <p:sp>
          <p:nvSpPr>
            <p:cNvPr id="37" name="Text 31">
              <a:extLst>
                <a:ext uri="{FF2B5EF4-FFF2-40B4-BE49-F238E27FC236}">
                  <a16:creationId xmlns:a16="http://schemas.microsoft.com/office/drawing/2014/main" id="{07D15F94-6B8D-01C6-EB09-A5CD358CD35D}"/>
                </a:ext>
              </a:extLst>
            </p:cNvPr>
            <p:cNvSpPr/>
            <p:nvPr/>
          </p:nvSpPr>
          <p:spPr>
            <a:xfrm>
              <a:off x="5040616" y="5561331"/>
              <a:ext cx="3840480" cy="228600"/>
            </a:xfrm>
            <a:prstGeom prst="rect">
              <a:avLst/>
            </a:prstGeom>
            <a:noFill/>
            <a:ln/>
            <a:effectLst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i="1" dirty="0">
                  <a:solidFill>
                    <a:srgbClr val="2E7D32"/>
                  </a:solidFill>
                </a:rPr>
                <a:t>→ 85% of CVEs never actually exploited</a:t>
              </a:r>
              <a:endParaRPr lang="en-US" sz="950" dirty="0"/>
            </a:p>
          </p:txBody>
        </p:sp>
      </p:grpSp>
      <p:sp>
        <p:nvSpPr>
          <p:cNvPr id="38" name="Text 32">
            <a:extLst>
              <a:ext uri="{FF2B5EF4-FFF2-40B4-BE49-F238E27FC236}">
                <a16:creationId xmlns:a16="http://schemas.microsoft.com/office/drawing/2014/main" id="{ED0C9FE7-9549-8DD8-939B-B46C8C6973A7}"/>
              </a:ext>
            </a:extLst>
          </p:cNvPr>
          <p:cNvSpPr/>
          <p:nvPr/>
        </p:nvSpPr>
        <p:spPr>
          <a:xfrm>
            <a:off x="114305" y="6135976"/>
            <a:ext cx="11009324" cy="2203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8909C"/>
                </a:solidFill>
              </a:rPr>
              <a:t>Sources: Darktrace Annual Threat Report 2023, CrowdStrike Global Threat Report 2024, Proofpoint State of the Phish 2024, Tenable Research</a:t>
            </a:r>
            <a:endParaRPr lang="en-US" sz="13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55FDD04-02C4-4A0C-EF93-27601C8317F7}"/>
              </a:ext>
            </a:extLst>
          </p:cNvPr>
          <p:cNvGrpSpPr/>
          <p:nvPr/>
        </p:nvGrpSpPr>
        <p:grpSpPr>
          <a:xfrm>
            <a:off x="2417153" y="3385059"/>
            <a:ext cx="5124289" cy="1207008"/>
            <a:chOff x="2417153" y="3385059"/>
            <a:chExt cx="5124289" cy="1207008"/>
          </a:xfrm>
        </p:grpSpPr>
        <p:sp>
          <p:nvSpPr>
            <p:cNvPr id="18" name="Shape 12">
              <a:extLst>
                <a:ext uri="{FF2B5EF4-FFF2-40B4-BE49-F238E27FC236}">
                  <a16:creationId xmlns:a16="http://schemas.microsoft.com/office/drawing/2014/main" id="{65827CB0-6696-C8CD-0CA5-ECC160E8CF49}"/>
                </a:ext>
              </a:extLst>
            </p:cNvPr>
            <p:cNvSpPr/>
            <p:nvPr/>
          </p:nvSpPr>
          <p:spPr>
            <a:xfrm>
              <a:off x="2849879" y="3385059"/>
              <a:ext cx="4691563" cy="1207008"/>
            </a:xfrm>
            <a:prstGeom prst="rect">
              <a:avLst/>
            </a:prstGeom>
            <a:solidFill>
              <a:srgbClr val="F1F8F1"/>
            </a:solidFill>
            <a:ln w="10160">
              <a:solidFill>
                <a:srgbClr val="C8E6C9"/>
              </a:solidFill>
              <a:prstDash val="solid"/>
            </a:ln>
            <a:effectLst>
              <a:glow>
                <a:schemeClr val="accent1">
                  <a:alpha val="40000"/>
                </a:schemeClr>
              </a:glow>
              <a:outerShdw blurRad="50800" dist="38100" dir="13500000" algn="br" rotWithShape="0">
                <a:prstClr val="black">
                  <a:alpha val="40000"/>
                </a:prstClr>
              </a:outerShdw>
              <a:softEdge rad="0"/>
            </a:effectLst>
            <a:scene3d>
              <a:camera prst="orthographicFront"/>
              <a:lightRig rig="threePt" dir="t"/>
            </a:scene3d>
            <a:sp3d>
              <a:bevelT w="152400" h="50800" prst="softRound"/>
              <a:bevelB w="139700" h="139700" prst="divot"/>
            </a:sp3d>
          </p:spPr>
        </p:sp>
        <p:sp>
          <p:nvSpPr>
            <p:cNvPr id="20" name="Text 14">
              <a:extLst>
                <a:ext uri="{FF2B5EF4-FFF2-40B4-BE49-F238E27FC236}">
                  <a16:creationId xmlns:a16="http://schemas.microsoft.com/office/drawing/2014/main" id="{1D9A3229-469B-F2A7-0B3D-978823234154}"/>
                </a:ext>
              </a:extLst>
            </p:cNvPr>
            <p:cNvSpPr/>
            <p:nvPr/>
          </p:nvSpPr>
          <p:spPr>
            <a:xfrm>
              <a:off x="3032760" y="3458211"/>
              <a:ext cx="3840480" cy="292608"/>
            </a:xfrm>
            <a:prstGeom prst="rect">
              <a:avLst/>
            </a:prstGeom>
            <a:noFill/>
            <a:ln/>
            <a:effectLst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990F30"/>
                  </a:solidFill>
                </a:rPr>
                <a:t>AI-Powered SIEM</a:t>
              </a:r>
              <a:endParaRPr lang="en-US" sz="1250" dirty="0">
                <a:solidFill>
                  <a:srgbClr val="990F30"/>
                </a:solidFill>
              </a:endParaRPr>
            </a:p>
          </p:txBody>
        </p:sp>
        <p:sp>
          <p:nvSpPr>
            <p:cNvPr id="21" name="Text 15">
              <a:extLst>
                <a:ext uri="{FF2B5EF4-FFF2-40B4-BE49-F238E27FC236}">
                  <a16:creationId xmlns:a16="http://schemas.microsoft.com/office/drawing/2014/main" id="{4C1DA5EC-7B35-01D9-DD89-4AC6CEDCAE2F}"/>
                </a:ext>
              </a:extLst>
            </p:cNvPr>
            <p:cNvSpPr/>
            <p:nvPr/>
          </p:nvSpPr>
          <p:spPr>
            <a:xfrm>
              <a:off x="3032760" y="3769107"/>
              <a:ext cx="3840480" cy="548640"/>
            </a:xfrm>
            <a:prstGeom prst="rect">
              <a:avLst/>
            </a:prstGeom>
            <a:noFill/>
            <a:ln/>
            <a:effectLst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7474F"/>
                  </a:solidFill>
                </a:rPr>
                <a:t>Microsoft Sentinel &amp; IBM QRadar use NLP to parse log files at scale, dramatically reducing false positives and alert fatigue for SOC analysts.</a:t>
              </a:r>
              <a:endParaRPr lang="en-US" sz="1000" dirty="0"/>
            </a:p>
          </p:txBody>
        </p:sp>
        <p:sp>
          <p:nvSpPr>
            <p:cNvPr id="22" name="Text 16">
              <a:extLst>
                <a:ext uri="{FF2B5EF4-FFF2-40B4-BE49-F238E27FC236}">
                  <a16:creationId xmlns:a16="http://schemas.microsoft.com/office/drawing/2014/main" id="{169ED7C6-2689-A1E1-C3C5-2E82078C0B8B}"/>
                </a:ext>
              </a:extLst>
            </p:cNvPr>
            <p:cNvSpPr/>
            <p:nvPr/>
          </p:nvSpPr>
          <p:spPr>
            <a:xfrm>
              <a:off x="3032760" y="4299459"/>
              <a:ext cx="3840480" cy="228600"/>
            </a:xfrm>
            <a:prstGeom prst="rect">
              <a:avLst/>
            </a:prstGeom>
            <a:noFill/>
            <a:ln/>
            <a:effectLst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i="1" dirty="0">
                  <a:solidFill>
                    <a:srgbClr val="2E7D32"/>
                  </a:solidFill>
                </a:rPr>
                <a:t>→ False positives down 60–80%</a:t>
              </a:r>
              <a:endParaRPr lang="en-US" sz="950" dirty="0"/>
            </a:p>
          </p:txBody>
        </p:sp>
        <p:sp>
          <p:nvSpPr>
            <p:cNvPr id="39" name="Shape 3">
              <a:extLst>
                <a:ext uri="{FF2B5EF4-FFF2-40B4-BE49-F238E27FC236}">
                  <a16:creationId xmlns:a16="http://schemas.microsoft.com/office/drawing/2014/main" id="{4E1154EF-04C9-B6E8-EDC0-9C5529771A75}"/>
                </a:ext>
              </a:extLst>
            </p:cNvPr>
            <p:cNvSpPr/>
            <p:nvPr/>
          </p:nvSpPr>
          <p:spPr>
            <a:xfrm>
              <a:off x="2417153" y="3385059"/>
              <a:ext cx="427463" cy="1207008"/>
            </a:xfrm>
            <a:prstGeom prst="rect">
              <a:avLst/>
            </a:prstGeom>
            <a:solidFill>
              <a:srgbClr val="990F30"/>
            </a:solidFill>
            <a:ln/>
            <a:effectLst>
              <a:glow>
                <a:schemeClr val="accent1">
                  <a:alpha val="40000"/>
                </a:schemeClr>
              </a:glow>
              <a:outerShdw blurRad="50800" dist="38100" dir="13500000" algn="br" rotWithShape="0">
                <a:prstClr val="black">
                  <a:alpha val="40000"/>
                </a:prstClr>
              </a:outerShdw>
              <a:softEdge rad="0"/>
            </a:effectLst>
            <a:scene3d>
              <a:camera prst="orthographicFront"/>
              <a:lightRig rig="threePt" dir="t"/>
            </a:scene3d>
            <a:sp3d>
              <a:bevelT w="152400" h="50800" prst="softRound"/>
              <a:bevelB w="139700" h="139700" prst="divot"/>
            </a:sp3d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29153" y="6167044"/>
            <a:ext cx="2743200" cy="365125"/>
          </a:xfrm>
        </p:spPr>
        <p:txBody>
          <a:bodyPr/>
          <a:lstStyle/>
          <a:p>
            <a:fld id="{18CCF275-3B26-4683-A5E0-2047E693BFCA}" type="datetime1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3672-A5C7-4E13-8CD6-E741C07F602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66F75D-11E2-6A78-9581-403E7869E8B7}"/>
              </a:ext>
            </a:extLst>
          </p:cNvPr>
          <p:cNvSpPr txBox="1"/>
          <p:nvPr/>
        </p:nvSpPr>
        <p:spPr>
          <a:xfrm>
            <a:off x="2174239" y="241758"/>
            <a:ext cx="91846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BABU BANARASI DAS UNIVERSITY ,LUCKNOW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APPLICATION (DS &amp; AI)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CB97FB-3925-A375-EE4F-753C0168C59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305" y="57153"/>
            <a:ext cx="1371599" cy="1371599"/>
          </a:xfrm>
          <a:prstGeom prst="rect">
            <a:avLst/>
          </a:prstGeom>
        </p:spPr>
      </p:pic>
      <p:sp>
        <p:nvSpPr>
          <p:cNvPr id="6" name="Shape 0">
            <a:extLst>
              <a:ext uri="{FF2B5EF4-FFF2-40B4-BE49-F238E27FC236}">
                <a16:creationId xmlns:a16="http://schemas.microsoft.com/office/drawing/2014/main" id="{EBDE471F-5DDD-12DA-92EE-C1AFB8F18F97}"/>
              </a:ext>
            </a:extLst>
          </p:cNvPr>
          <p:cNvSpPr/>
          <p:nvPr/>
        </p:nvSpPr>
        <p:spPr>
          <a:xfrm>
            <a:off x="1904215" y="1262576"/>
            <a:ext cx="9144000" cy="64008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C7C8FD9B-E949-FD98-ED46-183A5CA0037F}"/>
              </a:ext>
            </a:extLst>
          </p:cNvPr>
          <p:cNvSpPr/>
          <p:nvPr/>
        </p:nvSpPr>
        <p:spPr>
          <a:xfrm>
            <a:off x="329153" y="1584745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52"/>
                </a:solidFill>
              </a:rPr>
              <a:t>Market Statistics &amp; Impact</a:t>
            </a:r>
            <a:endParaRPr lang="en-US" sz="2600" dirty="0"/>
          </a:p>
        </p:txBody>
      </p:sp>
      <p:graphicFrame>
        <p:nvGraphicFramePr>
          <p:cNvPr id="8" name="Chart 0">
            <a:extLst>
              <a:ext uri="{FF2B5EF4-FFF2-40B4-BE49-F238E27FC236}">
                <a16:creationId xmlns:a16="http://schemas.microsoft.com/office/drawing/2014/main" id="{64F9EFAD-6644-ED53-3B95-8C4F8A1BEC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3202227"/>
              </p:ext>
            </p:extLst>
          </p:nvPr>
        </p:nvGraphicFramePr>
        <p:xfrm>
          <a:off x="199902" y="2119658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F33060FE-A83E-AB2D-60E5-2D02E7652C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7984348"/>
              </p:ext>
            </p:extLst>
          </p:nvPr>
        </p:nvGraphicFramePr>
        <p:xfrm>
          <a:off x="8684002" y="2122193"/>
          <a:ext cx="33375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2">
            <a:extLst>
              <a:ext uri="{FF2B5EF4-FFF2-40B4-BE49-F238E27FC236}">
                <a16:creationId xmlns:a16="http://schemas.microsoft.com/office/drawing/2014/main" id="{3997EC21-4FEA-2CE6-7616-14BED4CCA93F}"/>
              </a:ext>
            </a:extLst>
          </p:cNvPr>
          <p:cNvSpPr/>
          <p:nvPr/>
        </p:nvSpPr>
        <p:spPr>
          <a:xfrm>
            <a:off x="5795202" y="2376715"/>
            <a:ext cx="26974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  <a:softEdge rad="50800"/>
          </a:effectLst>
          <a:scene3d>
            <a:camera prst="orthographicFront"/>
            <a:lightRig rig="threePt" dir="t"/>
          </a:scene3d>
          <a:sp3d>
            <a:bevelT prst="angle"/>
            <a:bevelB w="139700" h="139700" prst="divot"/>
          </a:sp3d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7486B8BB-C95B-E6BD-11B9-52B3F66222BC}"/>
              </a:ext>
            </a:extLst>
          </p:cNvPr>
          <p:cNvSpPr/>
          <p:nvPr/>
        </p:nvSpPr>
        <p:spPr>
          <a:xfrm>
            <a:off x="5904930" y="2422435"/>
            <a:ext cx="2468880" cy="347472"/>
          </a:xfrm>
          <a:prstGeom prst="rect">
            <a:avLst/>
          </a:prstGeom>
          <a:noFill/>
          <a:ln/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  <a:softEdge rad="50800"/>
          </a:effectLst>
          <a:scene3d>
            <a:camera prst="orthographicFront"/>
            <a:lightRig rig="threePt" dir="t"/>
          </a:scene3d>
          <a:sp3d>
            <a:bevelT prst="angle"/>
            <a:bevelB w="139700" h="139700" prst="divot"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D52"/>
                </a:solidFill>
              </a:rPr>
              <a:t>$266B</a:t>
            </a:r>
            <a:endParaRPr lang="en-US" sz="20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1F229BF4-C869-64AB-5966-9C16FBF3FFB0}"/>
              </a:ext>
            </a:extLst>
          </p:cNvPr>
          <p:cNvSpPr/>
          <p:nvPr/>
        </p:nvSpPr>
        <p:spPr>
          <a:xfrm>
            <a:off x="5904930" y="2760763"/>
            <a:ext cx="2468880" cy="210312"/>
          </a:xfrm>
          <a:prstGeom prst="rect">
            <a:avLst/>
          </a:prstGeom>
          <a:noFill/>
          <a:ln/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  <a:softEdge rad="50800"/>
          </a:effectLst>
          <a:scene3d>
            <a:camera prst="orthographicFront"/>
            <a:lightRig rig="threePt" dir="t"/>
          </a:scene3d>
          <a:sp3d>
            <a:bevelT prst="angle"/>
            <a:bevelB w="139700" h="139700" prst="divot"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</a:rPr>
              <a:t>Cybersecurity market by 2027</a:t>
            </a:r>
            <a:endParaRPr lang="en-US" sz="95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5AFC7E27-C4F3-BE66-9EF6-69C5349BE681}"/>
              </a:ext>
            </a:extLst>
          </p:cNvPr>
          <p:cNvSpPr/>
          <p:nvPr/>
        </p:nvSpPr>
        <p:spPr>
          <a:xfrm>
            <a:off x="5795202" y="4516115"/>
            <a:ext cx="26974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  <a:softEdge rad="50800"/>
          </a:effectLst>
          <a:scene3d>
            <a:camera prst="orthographicFront"/>
            <a:lightRig rig="threePt" dir="t"/>
          </a:scene3d>
          <a:sp3d>
            <a:bevelT prst="angle"/>
            <a:bevelB w="139700" h="139700" prst="divot"/>
          </a:sp3d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82812388-AA9C-2D6D-47CF-AB7C30C2A742}"/>
              </a:ext>
            </a:extLst>
          </p:cNvPr>
          <p:cNvSpPr/>
          <p:nvPr/>
        </p:nvSpPr>
        <p:spPr>
          <a:xfrm>
            <a:off x="5904930" y="4561835"/>
            <a:ext cx="2468880" cy="347472"/>
          </a:xfrm>
          <a:prstGeom prst="rect">
            <a:avLst/>
          </a:prstGeom>
          <a:noFill/>
          <a:ln/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  <a:softEdge rad="50800"/>
          </a:effectLst>
          <a:scene3d>
            <a:camera prst="orthographicFront"/>
            <a:lightRig rig="threePt" dir="t"/>
          </a:scene3d>
          <a:sp3d>
            <a:bevelT prst="angle"/>
            <a:bevelB w="139700" h="139700" prst="divot"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D52"/>
                </a:solidFill>
              </a:rPr>
              <a:t>3.4M</a:t>
            </a:r>
            <a:endParaRPr lang="en-US" sz="20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7072994D-7ECE-638C-BA60-16E97A1E00EE}"/>
              </a:ext>
            </a:extLst>
          </p:cNvPr>
          <p:cNvSpPr/>
          <p:nvPr/>
        </p:nvSpPr>
        <p:spPr>
          <a:xfrm>
            <a:off x="5904930" y="4900163"/>
            <a:ext cx="2468880" cy="210312"/>
          </a:xfrm>
          <a:prstGeom prst="rect">
            <a:avLst/>
          </a:prstGeom>
          <a:noFill/>
          <a:ln/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  <a:softEdge rad="50800"/>
          </a:effectLst>
          <a:scene3d>
            <a:camera prst="orthographicFront"/>
            <a:lightRig rig="threePt" dir="t"/>
          </a:scene3d>
          <a:sp3d>
            <a:bevelT prst="angle"/>
            <a:bevelB w="139700" h="139700" prst="divot"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</a:rPr>
              <a:t>Unfilled cybersecurity jobs globally</a:t>
            </a:r>
            <a:endParaRPr lang="en-US" sz="950" dirty="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F520F6A1-EDBC-3C40-2637-628389693649}"/>
              </a:ext>
            </a:extLst>
          </p:cNvPr>
          <p:cNvSpPr/>
          <p:nvPr/>
        </p:nvSpPr>
        <p:spPr>
          <a:xfrm>
            <a:off x="5795202" y="3499711"/>
            <a:ext cx="26974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6EF"/>
            </a:solidFill>
            <a:prstDash val="solid"/>
          </a:ln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  <a:softEdge rad="50800"/>
          </a:effectLst>
          <a:scene3d>
            <a:camera prst="orthographicFront"/>
            <a:lightRig rig="threePt" dir="t"/>
          </a:scene3d>
          <a:sp3d>
            <a:bevelT prst="angle"/>
            <a:bevelB w="139700" h="139700" prst="divot"/>
          </a:sp3d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199316D5-F979-9086-BFDD-32902A3D6E8D}"/>
              </a:ext>
            </a:extLst>
          </p:cNvPr>
          <p:cNvSpPr/>
          <p:nvPr/>
        </p:nvSpPr>
        <p:spPr>
          <a:xfrm>
            <a:off x="5904930" y="3545431"/>
            <a:ext cx="2468880" cy="347472"/>
          </a:xfrm>
          <a:prstGeom prst="rect">
            <a:avLst/>
          </a:prstGeom>
          <a:noFill/>
          <a:ln/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  <a:softEdge rad="50800"/>
          </a:effectLst>
          <a:scene3d>
            <a:camera prst="orthographicFront"/>
            <a:lightRig rig="threePt" dir="t"/>
          </a:scene3d>
          <a:sp3d>
            <a:bevelT prst="angle"/>
            <a:bevelB w="139700" h="139700" prst="divot"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D52"/>
                </a:solidFill>
              </a:rPr>
              <a:t>277 days</a:t>
            </a:r>
            <a:endParaRPr lang="en-US" sz="20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CA2308A3-A337-6DFB-4DDF-757E539589CE}"/>
              </a:ext>
            </a:extLst>
          </p:cNvPr>
          <p:cNvSpPr/>
          <p:nvPr/>
        </p:nvSpPr>
        <p:spPr>
          <a:xfrm>
            <a:off x="5904930" y="3883759"/>
            <a:ext cx="2468880" cy="210312"/>
          </a:xfrm>
          <a:prstGeom prst="rect">
            <a:avLst/>
          </a:prstGeom>
          <a:noFill/>
          <a:ln/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  <a:softEdge rad="50800"/>
          </a:effectLst>
          <a:scene3d>
            <a:camera prst="orthographicFront"/>
            <a:lightRig rig="threePt" dir="t"/>
          </a:scene3d>
          <a:sp3d>
            <a:bevelT prst="angle"/>
            <a:bevelB w="139700" h="139700" prst="divot"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</a:rPr>
              <a:t>Average time to detect a breach</a:t>
            </a:r>
            <a:endParaRPr lang="en-US" sz="95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AE40475A-2DAF-6FEB-3E82-24E05694C972}"/>
              </a:ext>
            </a:extLst>
          </p:cNvPr>
          <p:cNvSpPr/>
          <p:nvPr/>
        </p:nvSpPr>
        <p:spPr>
          <a:xfrm>
            <a:off x="199902" y="5751100"/>
            <a:ext cx="8790494" cy="2078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8909C"/>
                </a:solidFill>
              </a:rPr>
              <a:t>*Projected  |  Sources: Cybersecurity Ventures, MarketsandMarkets 2022, IBM Cost of Data Breach Report 2023, ISC2 2023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9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000"/>
                                        <p:tgtEl>
                                          <p:spTgt spid="9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1000"/>
                                        <p:tgtEl>
                                          <p:spTgt spid="9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1000"/>
                                        <p:tgtEl>
                                          <p:spTgt spid="9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1000"/>
                                        <p:tgtEl>
                                          <p:spTgt spid="9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1000"/>
                                        <p:tgtEl>
                                          <p:spTgt spid="9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8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8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Chart bld="category"/>
        </p:bldSub>
      </p:bldGraphic>
      <p:bldGraphic spid="9" grpId="0">
        <p:bldSub>
          <a:bldChart bld="category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CF275-3B26-4683-A5E0-2047E693BFCA}" type="datetime1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3672-A5C7-4E13-8CD6-E741C07F6029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CB97FB-3925-A375-EE4F-753C0168C59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305" y="57153"/>
            <a:ext cx="1371599" cy="13715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66F75D-11E2-6A78-9581-403E7869E8B7}"/>
              </a:ext>
            </a:extLst>
          </p:cNvPr>
          <p:cNvSpPr txBox="1"/>
          <p:nvPr/>
        </p:nvSpPr>
        <p:spPr>
          <a:xfrm>
            <a:off x="2174239" y="255826"/>
            <a:ext cx="91846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BABU BANARASI DAS UNIVERSITY ,LUCKNOW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APPLICATION (DS &amp; AI)</a:t>
            </a:r>
          </a:p>
        </p:txBody>
      </p:sp>
      <p:sp>
        <p:nvSpPr>
          <p:cNvPr id="6" name="Shape 0"/>
          <p:cNvSpPr/>
          <p:nvPr/>
        </p:nvSpPr>
        <p:spPr>
          <a:xfrm>
            <a:off x="2026763" y="1245491"/>
            <a:ext cx="9144000" cy="64008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7" name="Text 1"/>
          <p:cNvSpPr/>
          <p:nvPr/>
        </p:nvSpPr>
        <p:spPr>
          <a:xfrm>
            <a:off x="381000" y="1523815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D52"/>
                </a:solidFill>
              </a:rPr>
              <a:t>Advantages &amp; Limitations</a:t>
            </a:r>
            <a:endParaRPr lang="en-US" sz="2600" dirty="0"/>
          </a:p>
        </p:txBody>
      </p:sp>
      <p:sp>
        <p:nvSpPr>
          <p:cNvPr id="8" name="Shape 2"/>
          <p:cNvSpPr/>
          <p:nvPr/>
        </p:nvSpPr>
        <p:spPr>
          <a:xfrm>
            <a:off x="0" y="2139664"/>
            <a:ext cx="6235895" cy="3977640"/>
          </a:xfrm>
          <a:prstGeom prst="rect">
            <a:avLst/>
          </a:prstGeom>
          <a:solidFill>
            <a:srgbClr val="F1F8F1"/>
          </a:solidFill>
          <a:ln w="10160">
            <a:solidFill>
              <a:srgbClr val="C8E6C9"/>
            </a:solidFill>
            <a:prstDash val="solid"/>
          </a:ln>
        </p:spPr>
      </p:sp>
      <p:sp>
        <p:nvSpPr>
          <p:cNvPr id="9" name="Text 3"/>
          <p:cNvSpPr/>
          <p:nvPr/>
        </p:nvSpPr>
        <p:spPr>
          <a:xfrm>
            <a:off x="1706880" y="229873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Advantages</a:t>
            </a:r>
            <a:endParaRPr lang="en-US" sz="1400" dirty="0"/>
          </a:p>
        </p:txBody>
      </p:sp>
      <p:sp>
        <p:nvSpPr>
          <p:cNvPr id="10" name="Shape 4"/>
          <p:cNvSpPr/>
          <p:nvPr/>
        </p:nvSpPr>
        <p:spPr>
          <a:xfrm>
            <a:off x="1706880" y="2801654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5"/>
          <p:cNvSpPr/>
          <p:nvPr/>
        </p:nvSpPr>
        <p:spPr>
          <a:xfrm>
            <a:off x="1981200" y="275593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</a:rPr>
              <a:t>Speed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1981200" y="301196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AI detects threats in milliseconds vs hours for human analysts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1706880" y="3460022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8"/>
          <p:cNvSpPr/>
          <p:nvPr/>
        </p:nvSpPr>
        <p:spPr>
          <a:xfrm>
            <a:off x="1981200" y="341430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</a:rPr>
              <a:t>Scale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1981200" y="367033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Monitors millions of events simultaneously — impossible manually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1706880" y="4118390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1"/>
          <p:cNvSpPr/>
          <p:nvPr/>
        </p:nvSpPr>
        <p:spPr>
          <a:xfrm>
            <a:off x="1981200" y="407267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</a:rPr>
              <a:t>Accuracy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1981200" y="432870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ML models reduce false positives by 60–80% (Microsoft Sentinel data)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1706880" y="4776758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0" name="Text 14"/>
          <p:cNvSpPr/>
          <p:nvPr/>
        </p:nvSpPr>
        <p:spPr>
          <a:xfrm>
            <a:off x="1981200" y="473103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</a:rPr>
              <a:t>Predictive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1981200" y="498707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Anticipates attacks before they happen using threat intelligence feeds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1706880" y="5435126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3" name="Text 17"/>
          <p:cNvSpPr/>
          <p:nvPr/>
        </p:nvSpPr>
        <p:spPr>
          <a:xfrm>
            <a:off x="1981200" y="538940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</a:rPr>
              <a:t>24/7 coverage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981200" y="564543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Never fatigued — consistent vigilance unlike human SOC teams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235896" y="2139664"/>
            <a:ext cx="5956104" cy="3977640"/>
          </a:xfrm>
          <a:prstGeom prst="rect">
            <a:avLst/>
          </a:prstGeom>
          <a:solidFill>
            <a:srgbClr val="FFF3F3"/>
          </a:solidFill>
          <a:ln w="10160">
            <a:solidFill>
              <a:srgbClr val="FFCDD2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284563" y="229873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7284563" y="2801654"/>
            <a:ext cx="164592" cy="164592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8" name="Text 22"/>
          <p:cNvSpPr/>
          <p:nvPr/>
        </p:nvSpPr>
        <p:spPr>
          <a:xfrm>
            <a:off x="7558883" y="275593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62828"/>
                </a:solidFill>
              </a:rPr>
              <a:t>Adversarial attacks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7558883" y="301196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Attackers craft inputs that deliberately fool AI detection models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7284563" y="3460022"/>
            <a:ext cx="164592" cy="164592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1" name="Text 25"/>
          <p:cNvSpPr/>
          <p:nvPr/>
        </p:nvSpPr>
        <p:spPr>
          <a:xfrm>
            <a:off x="7558883" y="341430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62828"/>
                </a:solidFill>
              </a:rPr>
              <a:t>High false positives still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7558883" y="367033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Even improved AI sometimes flags legitimate traffic, causing disruption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7284563" y="4118390"/>
            <a:ext cx="164592" cy="164592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4" name="Text 28"/>
          <p:cNvSpPr/>
          <p:nvPr/>
        </p:nvSpPr>
        <p:spPr>
          <a:xfrm>
            <a:off x="7558883" y="407267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62828"/>
                </a:solidFill>
              </a:rPr>
              <a:t>Training data bias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7558883" y="432870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AI trained on old attacks may miss zero-day threats entirely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7284563" y="4776758"/>
            <a:ext cx="164592" cy="164592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7" name="Text 31"/>
          <p:cNvSpPr/>
          <p:nvPr/>
        </p:nvSpPr>
        <p:spPr>
          <a:xfrm>
            <a:off x="7558883" y="473103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62828"/>
                </a:solidFill>
              </a:rPr>
              <a:t>Explainability gap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7558883" y="498707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Black-box AI decisions are hard to justify in legal/compliance contexts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7284563" y="5435126"/>
            <a:ext cx="164592" cy="164592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40" name="Text 34"/>
          <p:cNvSpPr/>
          <p:nvPr/>
        </p:nvSpPr>
        <p:spPr>
          <a:xfrm>
            <a:off x="7558883" y="538940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62828"/>
                </a:solidFill>
              </a:rPr>
              <a:t>Cost</a:t>
            </a:r>
            <a:endParaRPr lang="en-US" sz="1150" dirty="0"/>
          </a:p>
        </p:txBody>
      </p:sp>
      <p:sp>
        <p:nvSpPr>
          <p:cNvPr id="41" name="Text 35"/>
          <p:cNvSpPr/>
          <p:nvPr/>
        </p:nvSpPr>
        <p:spPr>
          <a:xfrm>
            <a:off x="7558883" y="564543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Enterprise AI security tools cost $100K–$1M+/year — SMEs left behind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2746" y="6551789"/>
            <a:ext cx="2743200" cy="365125"/>
          </a:xfrm>
        </p:spPr>
        <p:txBody>
          <a:bodyPr/>
          <a:lstStyle/>
          <a:p>
            <a:fld id="{18CCF275-3B26-4683-A5E0-2047E693BFCA}" type="datetime1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10600" y="6186664"/>
            <a:ext cx="2743200" cy="365125"/>
          </a:xfrm>
        </p:spPr>
        <p:txBody>
          <a:bodyPr/>
          <a:lstStyle/>
          <a:p>
            <a:fld id="{336F3672-A5C7-4E13-8CD6-E741C07F602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66F75D-11E2-6A78-9581-403E7869E8B7}"/>
              </a:ext>
            </a:extLst>
          </p:cNvPr>
          <p:cNvSpPr txBox="1"/>
          <p:nvPr/>
        </p:nvSpPr>
        <p:spPr>
          <a:xfrm>
            <a:off x="2174239" y="241758"/>
            <a:ext cx="91846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BABU BANARASI DAS UNIVERSITY ,LUCKNOW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APPLICATION (DS &amp; AI)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CB97FB-3925-A375-EE4F-753C0168C59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305" y="71221"/>
            <a:ext cx="1371599" cy="1371599"/>
          </a:xfrm>
          <a:prstGeom prst="rect">
            <a:avLst/>
          </a:prstGeom>
        </p:spPr>
      </p:pic>
      <p:sp>
        <p:nvSpPr>
          <p:cNvPr id="140" name="Shape 2">
            <a:extLst>
              <a:ext uri="{FF2B5EF4-FFF2-40B4-BE49-F238E27FC236}">
                <a16:creationId xmlns:a16="http://schemas.microsoft.com/office/drawing/2014/main" id="{8008ACD6-59DB-36F6-6FB8-8BEE46AA0951}"/>
              </a:ext>
            </a:extLst>
          </p:cNvPr>
          <p:cNvSpPr/>
          <p:nvPr/>
        </p:nvSpPr>
        <p:spPr>
          <a:xfrm>
            <a:off x="-437793" y="4060063"/>
            <a:ext cx="13067586" cy="22860"/>
          </a:xfrm>
          <a:prstGeom prst="roundRect">
            <a:avLst>
              <a:gd name="adj" fmla="val 124535"/>
            </a:avLst>
          </a:prstGeom>
          <a:solidFill>
            <a:srgbClr val="D4CEC3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</p:sp>
      <p:sp>
        <p:nvSpPr>
          <p:cNvPr id="141" name="Shape 3">
            <a:extLst>
              <a:ext uri="{FF2B5EF4-FFF2-40B4-BE49-F238E27FC236}">
                <a16:creationId xmlns:a16="http://schemas.microsoft.com/office/drawing/2014/main" id="{89D823FB-E73B-14DB-92A5-CD382AEB7522}"/>
              </a:ext>
            </a:extLst>
          </p:cNvPr>
          <p:cNvSpPr/>
          <p:nvPr/>
        </p:nvSpPr>
        <p:spPr>
          <a:xfrm>
            <a:off x="1474474" y="3490705"/>
            <a:ext cx="22860" cy="569357"/>
          </a:xfrm>
          <a:prstGeom prst="roundRect">
            <a:avLst>
              <a:gd name="adj" fmla="val 124535"/>
            </a:avLst>
          </a:prstGeom>
          <a:solidFill>
            <a:srgbClr val="D4CEC3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</p:sp>
      <p:sp>
        <p:nvSpPr>
          <p:cNvPr id="142" name="Shape 4">
            <a:extLst>
              <a:ext uri="{FF2B5EF4-FFF2-40B4-BE49-F238E27FC236}">
                <a16:creationId xmlns:a16="http://schemas.microsoft.com/office/drawing/2014/main" id="{292CAD7B-7621-90A0-CC2F-AAEE2A5840D5}"/>
              </a:ext>
            </a:extLst>
          </p:cNvPr>
          <p:cNvSpPr/>
          <p:nvPr/>
        </p:nvSpPr>
        <p:spPr>
          <a:xfrm>
            <a:off x="1272425" y="3846583"/>
            <a:ext cx="426958" cy="426958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</p:sp>
      <p:sp>
        <p:nvSpPr>
          <p:cNvPr id="143" name="Text 5">
            <a:extLst>
              <a:ext uri="{FF2B5EF4-FFF2-40B4-BE49-F238E27FC236}">
                <a16:creationId xmlns:a16="http://schemas.microsoft.com/office/drawing/2014/main" id="{EA289F07-8246-2C02-CA78-8C6699CC2497}"/>
              </a:ext>
            </a:extLst>
          </p:cNvPr>
          <p:cNvSpPr/>
          <p:nvPr/>
        </p:nvSpPr>
        <p:spPr>
          <a:xfrm>
            <a:off x="1343565" y="3882183"/>
            <a:ext cx="284678" cy="355759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200" dirty="0"/>
          </a:p>
        </p:txBody>
      </p:sp>
      <p:sp>
        <p:nvSpPr>
          <p:cNvPr id="147" name="Shape 9">
            <a:extLst>
              <a:ext uri="{FF2B5EF4-FFF2-40B4-BE49-F238E27FC236}">
                <a16:creationId xmlns:a16="http://schemas.microsoft.com/office/drawing/2014/main" id="{A2042105-50FC-AF23-6961-362DD7A1E08B}"/>
              </a:ext>
            </a:extLst>
          </p:cNvPr>
          <p:cNvSpPr/>
          <p:nvPr/>
        </p:nvSpPr>
        <p:spPr>
          <a:xfrm>
            <a:off x="4433401" y="4103432"/>
            <a:ext cx="22860" cy="569357"/>
          </a:xfrm>
          <a:prstGeom prst="roundRect">
            <a:avLst>
              <a:gd name="adj" fmla="val 124535"/>
            </a:avLst>
          </a:prstGeom>
          <a:solidFill>
            <a:srgbClr val="D4CEC3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</p:sp>
      <p:sp>
        <p:nvSpPr>
          <p:cNvPr id="148" name="Shape 10">
            <a:extLst>
              <a:ext uri="{FF2B5EF4-FFF2-40B4-BE49-F238E27FC236}">
                <a16:creationId xmlns:a16="http://schemas.microsoft.com/office/drawing/2014/main" id="{CFCE64BD-BF31-32A0-C019-EF935CCC2CE7}"/>
              </a:ext>
            </a:extLst>
          </p:cNvPr>
          <p:cNvSpPr/>
          <p:nvPr/>
        </p:nvSpPr>
        <p:spPr>
          <a:xfrm>
            <a:off x="4231352" y="3889953"/>
            <a:ext cx="426958" cy="426958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</p:sp>
      <p:sp>
        <p:nvSpPr>
          <p:cNvPr id="149" name="Text 11">
            <a:extLst>
              <a:ext uri="{FF2B5EF4-FFF2-40B4-BE49-F238E27FC236}">
                <a16:creationId xmlns:a16="http://schemas.microsoft.com/office/drawing/2014/main" id="{3B4C73DE-5F91-AE12-3825-2488D0CC3285}"/>
              </a:ext>
            </a:extLst>
          </p:cNvPr>
          <p:cNvSpPr/>
          <p:nvPr/>
        </p:nvSpPr>
        <p:spPr>
          <a:xfrm>
            <a:off x="4302491" y="3925553"/>
            <a:ext cx="284678" cy="355759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200" dirty="0"/>
          </a:p>
        </p:txBody>
      </p:sp>
      <p:sp>
        <p:nvSpPr>
          <p:cNvPr id="152" name="Shape 15">
            <a:extLst>
              <a:ext uri="{FF2B5EF4-FFF2-40B4-BE49-F238E27FC236}">
                <a16:creationId xmlns:a16="http://schemas.microsoft.com/office/drawing/2014/main" id="{A9714AAB-F226-6E3F-736F-706A0BFF01B8}"/>
              </a:ext>
            </a:extLst>
          </p:cNvPr>
          <p:cNvSpPr/>
          <p:nvPr/>
        </p:nvSpPr>
        <p:spPr>
          <a:xfrm>
            <a:off x="7481462" y="3462875"/>
            <a:ext cx="22860" cy="569357"/>
          </a:xfrm>
          <a:prstGeom prst="roundRect">
            <a:avLst>
              <a:gd name="adj" fmla="val 124535"/>
            </a:avLst>
          </a:prstGeom>
          <a:solidFill>
            <a:srgbClr val="D4CEC3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</p:sp>
      <p:sp>
        <p:nvSpPr>
          <p:cNvPr id="153" name="Shape 16">
            <a:extLst>
              <a:ext uri="{FF2B5EF4-FFF2-40B4-BE49-F238E27FC236}">
                <a16:creationId xmlns:a16="http://schemas.microsoft.com/office/drawing/2014/main" id="{A06C2604-5DEA-C052-409E-460FAAE0B855}"/>
              </a:ext>
            </a:extLst>
          </p:cNvPr>
          <p:cNvSpPr/>
          <p:nvPr/>
        </p:nvSpPr>
        <p:spPr>
          <a:xfrm>
            <a:off x="7279413" y="3818753"/>
            <a:ext cx="426958" cy="426958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</p:sp>
      <p:sp>
        <p:nvSpPr>
          <p:cNvPr id="154" name="Text 17">
            <a:extLst>
              <a:ext uri="{FF2B5EF4-FFF2-40B4-BE49-F238E27FC236}">
                <a16:creationId xmlns:a16="http://schemas.microsoft.com/office/drawing/2014/main" id="{168ACCBF-877B-F24C-8B43-7BCCB76814F2}"/>
              </a:ext>
            </a:extLst>
          </p:cNvPr>
          <p:cNvSpPr/>
          <p:nvPr/>
        </p:nvSpPr>
        <p:spPr>
          <a:xfrm>
            <a:off x="7350553" y="3854353"/>
            <a:ext cx="284678" cy="355759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2200" dirty="0"/>
          </a:p>
        </p:txBody>
      </p:sp>
      <p:sp>
        <p:nvSpPr>
          <p:cNvPr id="158" name="Shape 21">
            <a:extLst>
              <a:ext uri="{FF2B5EF4-FFF2-40B4-BE49-F238E27FC236}">
                <a16:creationId xmlns:a16="http://schemas.microsoft.com/office/drawing/2014/main" id="{261AFDA6-0618-03FB-35E6-8D76B2C190D1}"/>
              </a:ext>
            </a:extLst>
          </p:cNvPr>
          <p:cNvSpPr/>
          <p:nvPr/>
        </p:nvSpPr>
        <p:spPr>
          <a:xfrm>
            <a:off x="10694666" y="4067832"/>
            <a:ext cx="22860" cy="569357"/>
          </a:xfrm>
          <a:prstGeom prst="roundRect">
            <a:avLst>
              <a:gd name="adj" fmla="val 124535"/>
            </a:avLst>
          </a:prstGeom>
          <a:solidFill>
            <a:srgbClr val="D4CEC3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</p:sp>
      <p:sp>
        <p:nvSpPr>
          <p:cNvPr id="159" name="Shape 22">
            <a:extLst>
              <a:ext uri="{FF2B5EF4-FFF2-40B4-BE49-F238E27FC236}">
                <a16:creationId xmlns:a16="http://schemas.microsoft.com/office/drawing/2014/main" id="{4937C204-3137-FCCC-568C-4E68F2F0511A}"/>
              </a:ext>
            </a:extLst>
          </p:cNvPr>
          <p:cNvSpPr/>
          <p:nvPr/>
        </p:nvSpPr>
        <p:spPr>
          <a:xfrm>
            <a:off x="10492617" y="3854353"/>
            <a:ext cx="426958" cy="426958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</p:sp>
      <p:sp>
        <p:nvSpPr>
          <p:cNvPr id="160" name="Text 23">
            <a:extLst>
              <a:ext uri="{FF2B5EF4-FFF2-40B4-BE49-F238E27FC236}">
                <a16:creationId xmlns:a16="http://schemas.microsoft.com/office/drawing/2014/main" id="{6B605C8A-3A18-8B1C-5BD7-307B65495194}"/>
              </a:ext>
            </a:extLst>
          </p:cNvPr>
          <p:cNvSpPr/>
          <p:nvPr/>
        </p:nvSpPr>
        <p:spPr>
          <a:xfrm>
            <a:off x="10563757" y="3889953"/>
            <a:ext cx="284678" cy="355759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4</a:t>
            </a:r>
            <a:endParaRPr lang="en-US" sz="2200" dirty="0"/>
          </a:p>
        </p:txBody>
      </p:sp>
      <p:sp>
        <p:nvSpPr>
          <p:cNvPr id="139" name="Text 1">
            <a:extLst>
              <a:ext uri="{FF2B5EF4-FFF2-40B4-BE49-F238E27FC236}">
                <a16:creationId xmlns:a16="http://schemas.microsoft.com/office/drawing/2014/main" id="{75BA93EF-2BFA-B88B-133A-5381CFA0C2F4}"/>
              </a:ext>
            </a:extLst>
          </p:cNvPr>
          <p:cNvSpPr/>
          <p:nvPr/>
        </p:nvSpPr>
        <p:spPr>
          <a:xfrm>
            <a:off x="926659" y="1625783"/>
            <a:ext cx="9637098" cy="446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The cybersecurity landscape continues to evolve rapidly, with autonomous AI systems and quantum-resistant cryptography reshaping defense strategies.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F04CB790-91B8-2455-AC79-0840D5D1F353}"/>
              </a:ext>
            </a:extLst>
          </p:cNvPr>
          <p:cNvSpPr/>
          <p:nvPr/>
        </p:nvSpPr>
        <p:spPr>
          <a:xfrm>
            <a:off x="4456261" y="11456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D52"/>
                </a:solidFill>
              </a:rPr>
              <a:t>Future Scope</a:t>
            </a:r>
            <a:endParaRPr lang="en-US" sz="2800" dirty="0"/>
          </a:p>
        </p:txBody>
      </p:sp>
      <p:sp>
        <p:nvSpPr>
          <p:cNvPr id="21" name="Shape 2"/>
          <p:cNvSpPr/>
          <p:nvPr/>
        </p:nvSpPr>
        <p:spPr>
          <a:xfrm>
            <a:off x="0" y="1956322"/>
            <a:ext cx="4114800" cy="1783080"/>
          </a:xfrm>
          <a:prstGeom prst="rect">
            <a:avLst/>
          </a:prstGeom>
          <a:solidFill>
            <a:srgbClr val="F4F6F9"/>
          </a:solidFill>
          <a:ln w="7620">
            <a:solidFill>
              <a:srgbClr val="E0E6EF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</p:sp>
      <p:sp>
        <p:nvSpPr>
          <p:cNvPr id="22" name="Shape 3"/>
          <p:cNvSpPr/>
          <p:nvPr/>
        </p:nvSpPr>
        <p:spPr>
          <a:xfrm>
            <a:off x="0" y="1956322"/>
            <a:ext cx="4114800" cy="54864"/>
          </a:xfrm>
          <a:prstGeom prst="rect">
            <a:avLst/>
          </a:prstGeom>
          <a:solidFill>
            <a:srgbClr val="1565C0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</p:sp>
      <p:sp>
        <p:nvSpPr>
          <p:cNvPr id="23" name="Text 4"/>
          <p:cNvSpPr/>
          <p:nvPr/>
        </p:nvSpPr>
        <p:spPr>
          <a:xfrm>
            <a:off x="137160" y="2047762"/>
            <a:ext cx="3840480" cy="256032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565C0"/>
                </a:solidFill>
              </a:rPr>
              <a:t>2025–26</a:t>
            </a:r>
            <a:endParaRPr lang="en-US" sz="1000" dirty="0"/>
          </a:p>
        </p:txBody>
      </p:sp>
      <p:sp>
        <p:nvSpPr>
          <p:cNvPr id="24" name="Text 5"/>
          <p:cNvSpPr/>
          <p:nvPr/>
        </p:nvSpPr>
        <p:spPr>
          <a:xfrm>
            <a:off x="137160" y="2303794"/>
            <a:ext cx="3840480" cy="320040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52"/>
                </a:solidFill>
              </a:rPr>
              <a:t>Autonomous AI SOC Analysts</a:t>
            </a:r>
            <a:endParaRPr lang="en-US" sz="1300" dirty="0"/>
          </a:p>
        </p:txBody>
      </p:sp>
      <p:sp>
        <p:nvSpPr>
          <p:cNvPr id="25" name="Text 6"/>
          <p:cNvSpPr/>
          <p:nvPr/>
        </p:nvSpPr>
        <p:spPr>
          <a:xfrm>
            <a:off x="137160" y="2642122"/>
            <a:ext cx="3840480" cy="1024128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</a:rPr>
              <a:t>AI agents that investigate alerts end-to-end without human input. Microsoft Copilot for Security already handles Level-1 triage tasks. Projected to replace 40% of basic SOC tasks by 2026 (Gartner).</a:t>
            </a:r>
            <a:endParaRPr lang="en-US" sz="1050" dirty="0"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B19197C8-FA5F-4ED5-089E-EAB1FCD8DB2F}"/>
              </a:ext>
            </a:extLst>
          </p:cNvPr>
          <p:cNvSpPr/>
          <p:nvPr/>
        </p:nvSpPr>
        <p:spPr>
          <a:xfrm>
            <a:off x="2398861" y="4422590"/>
            <a:ext cx="4114800" cy="1783080"/>
          </a:xfrm>
          <a:prstGeom prst="rect">
            <a:avLst/>
          </a:prstGeom>
          <a:solidFill>
            <a:srgbClr val="F4F6F9"/>
          </a:solidFill>
          <a:ln w="7620">
            <a:solidFill>
              <a:srgbClr val="E0E6EF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B15EE7BC-C3B0-B0A0-D8BA-C0E369D4D45C}"/>
              </a:ext>
            </a:extLst>
          </p:cNvPr>
          <p:cNvSpPr/>
          <p:nvPr/>
        </p:nvSpPr>
        <p:spPr>
          <a:xfrm>
            <a:off x="2398861" y="4422590"/>
            <a:ext cx="4114800" cy="54864"/>
          </a:xfrm>
          <a:prstGeom prst="rect">
            <a:avLst/>
          </a:prstGeom>
          <a:solidFill>
            <a:srgbClr val="0F2D52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3C4F8031-DA84-C937-8B71-4E5EE2B7504C}"/>
              </a:ext>
            </a:extLst>
          </p:cNvPr>
          <p:cNvSpPr/>
          <p:nvPr/>
        </p:nvSpPr>
        <p:spPr>
          <a:xfrm>
            <a:off x="2536021" y="4514030"/>
            <a:ext cx="3840480" cy="256032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F2D52"/>
                </a:solidFill>
              </a:rPr>
              <a:t>2026–28</a:t>
            </a:r>
            <a:endParaRPr lang="en-US" sz="1000" dirty="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2B9F0C8A-D4F4-1DE0-F97C-B9E4F2268C57}"/>
              </a:ext>
            </a:extLst>
          </p:cNvPr>
          <p:cNvSpPr/>
          <p:nvPr/>
        </p:nvSpPr>
        <p:spPr>
          <a:xfrm>
            <a:off x="2536021" y="4770062"/>
            <a:ext cx="3840480" cy="320040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52"/>
                </a:solidFill>
              </a:rPr>
              <a:t>Quantum-Resistant Cryptography</a:t>
            </a:r>
            <a:endParaRPr lang="en-US" sz="130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86B040EA-16E6-925A-D22F-24B9DB429707}"/>
              </a:ext>
            </a:extLst>
          </p:cNvPr>
          <p:cNvSpPr/>
          <p:nvPr/>
        </p:nvSpPr>
        <p:spPr>
          <a:xfrm>
            <a:off x="2536021" y="5108390"/>
            <a:ext cx="3840480" cy="1024128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</a:rPr>
              <a:t>NIST finalised 3 post-quantum encryption standards in 2024. With quantum computers threatening RSA/ECC encryption, migration to lattice-based algorithms is urgent before 'harvest now, decrypt later' attacks succeed.</a:t>
            </a:r>
            <a:endParaRPr lang="en-US" sz="1050" dirty="0"/>
          </a:p>
        </p:txBody>
      </p:sp>
      <p:sp>
        <p:nvSpPr>
          <p:cNvPr id="31" name="Shape 12"/>
          <p:cNvSpPr/>
          <p:nvPr/>
        </p:nvSpPr>
        <p:spPr>
          <a:xfrm>
            <a:off x="5490331" y="1965450"/>
            <a:ext cx="4114800" cy="1783080"/>
          </a:xfrm>
          <a:prstGeom prst="rect">
            <a:avLst/>
          </a:prstGeom>
          <a:solidFill>
            <a:srgbClr val="F4F6F9"/>
          </a:solidFill>
          <a:ln w="7620">
            <a:solidFill>
              <a:srgbClr val="E0E6EF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</p:sp>
      <p:sp>
        <p:nvSpPr>
          <p:cNvPr id="32" name="Shape 13"/>
          <p:cNvSpPr/>
          <p:nvPr/>
        </p:nvSpPr>
        <p:spPr>
          <a:xfrm>
            <a:off x="5490331" y="1965450"/>
            <a:ext cx="4114800" cy="54864"/>
          </a:xfrm>
          <a:prstGeom prst="rect">
            <a:avLst/>
          </a:prstGeom>
          <a:solidFill>
            <a:srgbClr val="C62828"/>
          </a:solidFill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</p:sp>
      <p:sp>
        <p:nvSpPr>
          <p:cNvPr id="33" name="Text 14"/>
          <p:cNvSpPr/>
          <p:nvPr/>
        </p:nvSpPr>
        <p:spPr>
          <a:xfrm>
            <a:off x="5627491" y="2056890"/>
            <a:ext cx="3840480" cy="256032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62828"/>
                </a:solidFill>
              </a:rPr>
              <a:t>2027+</a:t>
            </a:r>
            <a:endParaRPr lang="en-US" sz="1000" dirty="0"/>
          </a:p>
        </p:txBody>
      </p:sp>
      <p:sp>
        <p:nvSpPr>
          <p:cNvPr id="34" name="Text 15"/>
          <p:cNvSpPr/>
          <p:nvPr/>
        </p:nvSpPr>
        <p:spPr>
          <a:xfrm>
            <a:off x="5627491" y="2312922"/>
            <a:ext cx="3840480" cy="320040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D52"/>
                </a:solidFill>
              </a:rPr>
              <a:t>AI vs AI Warfare</a:t>
            </a:r>
            <a:endParaRPr lang="en-US" sz="1300" dirty="0"/>
          </a:p>
        </p:txBody>
      </p:sp>
      <p:sp>
        <p:nvSpPr>
          <p:cNvPr id="35" name="Text 16"/>
          <p:cNvSpPr/>
          <p:nvPr/>
        </p:nvSpPr>
        <p:spPr>
          <a:xfrm>
            <a:off x="5627491" y="2651250"/>
            <a:ext cx="3840480" cy="1024128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soft" dir="t"/>
          </a:scene3d>
          <a:sp3d>
            <a:bevelB/>
          </a:sp3d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</a:rPr>
              <a:t>Fully automated attack and defence loops — AI offensive agents probing systems while defensive AI adapts in real time. DARPA's Cyber Grand Challenge already demonstrated this concept.</a:t>
            </a:r>
            <a:endParaRPr lang="en-US" sz="105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2AE5085-B679-B990-8506-84E299B9CDB1}"/>
              </a:ext>
            </a:extLst>
          </p:cNvPr>
          <p:cNvGrpSpPr/>
          <p:nvPr/>
        </p:nvGrpSpPr>
        <p:grpSpPr>
          <a:xfrm>
            <a:off x="8077200" y="4404327"/>
            <a:ext cx="4114800" cy="1783080"/>
            <a:chOff x="8077200" y="4404327"/>
            <a:chExt cx="4114800" cy="1783080"/>
          </a:xfrm>
        </p:grpSpPr>
        <p:sp>
          <p:nvSpPr>
            <p:cNvPr id="36" name="Shape 17"/>
            <p:cNvSpPr/>
            <p:nvPr/>
          </p:nvSpPr>
          <p:spPr>
            <a:xfrm>
              <a:off x="8077200" y="4404327"/>
              <a:ext cx="4114800" cy="1783080"/>
            </a:xfrm>
            <a:prstGeom prst="rect">
              <a:avLst/>
            </a:prstGeom>
            <a:solidFill>
              <a:srgbClr val="F4F6F9"/>
            </a:solidFill>
            <a:ln w="7620">
              <a:solidFill>
                <a:srgbClr val="E0E6EF"/>
              </a:solidFill>
              <a:prstDash val="soli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soft" dir="t"/>
            </a:scene3d>
            <a:sp3d>
              <a:bevelB/>
            </a:sp3d>
          </p:spPr>
        </p:sp>
        <p:sp>
          <p:nvSpPr>
            <p:cNvPr id="37" name="Shape 18"/>
            <p:cNvSpPr/>
            <p:nvPr/>
          </p:nvSpPr>
          <p:spPr>
            <a:xfrm>
              <a:off x="8077200" y="4404327"/>
              <a:ext cx="4114800" cy="54864"/>
            </a:xfrm>
            <a:prstGeom prst="rect">
              <a:avLst/>
            </a:prstGeom>
            <a:solidFill>
              <a:srgbClr val="2E7D32"/>
            </a:solidFill>
            <a:ln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soft" dir="t"/>
            </a:scene3d>
            <a:sp3d>
              <a:bevelB/>
            </a:sp3d>
          </p:spPr>
        </p:sp>
        <p:sp>
          <p:nvSpPr>
            <p:cNvPr id="38" name="Text 19"/>
            <p:cNvSpPr/>
            <p:nvPr/>
          </p:nvSpPr>
          <p:spPr>
            <a:xfrm>
              <a:off x="8214360" y="4495767"/>
              <a:ext cx="3840480" cy="256032"/>
            </a:xfrm>
            <a:prstGeom prst="rect">
              <a:avLst/>
            </a:prstGeom>
            <a:noFill/>
            <a:ln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soft" dir="t"/>
            </a:scene3d>
            <a:sp3d>
              <a:bevelB/>
            </a:sp3d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i="1" dirty="0">
                  <a:solidFill>
                    <a:srgbClr val="2E7D32"/>
                  </a:solidFill>
                </a:rPr>
                <a:t>India Focus</a:t>
              </a:r>
              <a:endParaRPr lang="en-US" sz="1000" dirty="0"/>
            </a:p>
          </p:txBody>
        </p:sp>
        <p:sp>
          <p:nvSpPr>
            <p:cNvPr id="39" name="Text 20"/>
            <p:cNvSpPr/>
            <p:nvPr/>
          </p:nvSpPr>
          <p:spPr>
            <a:xfrm>
              <a:off x="8214360" y="4751799"/>
              <a:ext cx="3840480" cy="320040"/>
            </a:xfrm>
            <a:prstGeom prst="rect">
              <a:avLst/>
            </a:prstGeom>
            <a:noFill/>
            <a:ln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soft" dir="t"/>
            </a:scene3d>
            <a:sp3d>
              <a:bevelB/>
            </a:sp3d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F2D52"/>
                  </a:solidFill>
                </a:rPr>
                <a:t>NCIIPC &amp; IndiaAI Safety Framework</a:t>
              </a:r>
              <a:endParaRPr lang="en-US" sz="1300" dirty="0"/>
            </a:p>
          </p:txBody>
        </p:sp>
        <p:sp>
          <p:nvSpPr>
            <p:cNvPr id="40" name="Text 21"/>
            <p:cNvSpPr/>
            <p:nvPr/>
          </p:nvSpPr>
          <p:spPr>
            <a:xfrm>
              <a:off x="8214360" y="5090127"/>
              <a:ext cx="3840480" cy="1024128"/>
            </a:xfrm>
            <a:prstGeom prst="rect">
              <a:avLst/>
            </a:prstGeom>
            <a:noFill/>
            <a:ln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soft" dir="t"/>
            </a:scene3d>
            <a:sp3d>
              <a:bevelB/>
            </a:sp3d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37474F"/>
                  </a:solidFill>
                </a:rPr>
                <a:t>India ranks 10th globally in cybercrime victims. CERT-In now mandates 6-hour breach reporting. Government investing in domestic AI-powered threat intelligence under the IndiaAI Mission.</a:t>
              </a:r>
              <a:endParaRPr lang="en-US" sz="1050" dirty="0"/>
            </a:p>
          </p:txBody>
        </p:sp>
      </p:grpSp>
      <p:sp>
        <p:nvSpPr>
          <p:cNvPr id="41" name="Shape 0"/>
          <p:cNvSpPr/>
          <p:nvPr/>
        </p:nvSpPr>
        <p:spPr>
          <a:xfrm>
            <a:off x="1836663" y="1150145"/>
            <a:ext cx="9144000" cy="64008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42" name="Text 22"/>
          <p:cNvSpPr/>
          <p:nvPr/>
        </p:nvSpPr>
        <p:spPr>
          <a:xfrm>
            <a:off x="-5250" y="6312042"/>
            <a:ext cx="8900160" cy="167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8909C"/>
                </a:solidFill>
              </a:rPr>
              <a:t>Sources: Gartner Emerging Tech 2024, NIST PQC Standards Aug 2024, DARPA CGC, CERT-In Directive 2022, IndiaAI Mission 2024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8" grpId="0" animBg="1"/>
      <p:bldP spid="29" grpId="0" animBg="1"/>
      <p:bldP spid="30" grpId="0" animBg="1"/>
      <p:bldP spid="33" grpId="0" animBg="1"/>
      <p:bldP spid="34" grpId="0" animBg="1"/>
      <p:bldP spid="3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6C1859-9C80-9907-3F9E-E23ED0209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CF275-3B26-4683-A5E0-2047E693BFCA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CA1051-74BA-FE5C-B9C7-A7C380516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3672-A5C7-4E13-8CD6-E741C07F6029}" type="slidenum">
              <a:rPr lang="en-US" smtClean="0"/>
              <a:pPr/>
              <a:t>10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1B2185-3B68-7172-0B9C-9521353AB2B8}"/>
              </a:ext>
            </a:extLst>
          </p:cNvPr>
          <p:cNvCxnSpPr>
            <a:cxnSpLocks/>
          </p:cNvCxnSpPr>
          <p:nvPr/>
        </p:nvCxnSpPr>
        <p:spPr>
          <a:xfrm>
            <a:off x="2258060" y="1280160"/>
            <a:ext cx="993394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F0330592-FDA3-13A7-1CFD-9505979D2D23}"/>
              </a:ext>
            </a:extLst>
          </p:cNvPr>
          <p:cNvSpPr txBox="1">
            <a:spLocks/>
          </p:cNvSpPr>
          <p:nvPr/>
        </p:nvSpPr>
        <p:spPr bwMode="auto">
          <a:xfrm>
            <a:off x="5492749" y="2722881"/>
            <a:ext cx="3002425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altLang="en-US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66F75D-11E2-6A78-9581-403E7869E8B7}"/>
              </a:ext>
            </a:extLst>
          </p:cNvPr>
          <p:cNvSpPr txBox="1"/>
          <p:nvPr/>
        </p:nvSpPr>
        <p:spPr>
          <a:xfrm>
            <a:off x="2174239" y="241758"/>
            <a:ext cx="91846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BABU BANARASI DAS UNIVERSITY ,LUCKNOW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APPLICATION (DS &amp; AI)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BCB97FB-3925-A375-EE4F-753C0168C59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305" y="57153"/>
            <a:ext cx="1371599" cy="13715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00" y="164714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2060"/>
                </a:solidFill>
              </a:rPr>
              <a:t>Conclusion</a:t>
            </a:r>
            <a:endParaRPr lang="en-US" sz="3600" dirty="0">
              <a:solidFill>
                <a:srgbClr val="002060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838200" y="2336007"/>
            <a:ext cx="54864" cy="47548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3"/>
          <p:cNvSpPr/>
          <p:nvPr/>
        </p:nvSpPr>
        <p:spPr>
          <a:xfrm>
            <a:off x="1039368" y="2317719"/>
            <a:ext cx="8092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2060"/>
                </a:solidFill>
              </a:rPr>
              <a:t>AI has fundamentally shifted cybersecurity — attacks are faster, smarter and harder to detect than ever</a:t>
            </a:r>
          </a:p>
        </p:txBody>
      </p:sp>
      <p:sp>
        <p:nvSpPr>
          <p:cNvPr id="8" name="Shape 4"/>
          <p:cNvSpPr/>
          <p:nvPr/>
        </p:nvSpPr>
        <p:spPr>
          <a:xfrm>
            <a:off x="838200" y="3003519"/>
            <a:ext cx="54864" cy="47548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2" name="Text 5"/>
          <p:cNvSpPr/>
          <p:nvPr/>
        </p:nvSpPr>
        <p:spPr>
          <a:xfrm>
            <a:off x="1039368" y="2985231"/>
            <a:ext cx="8092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2060"/>
                </a:solidFill>
              </a:rPr>
              <a:t>The same technology (LLMs, ML) is also the most powerful tool defenders now have available</a:t>
            </a:r>
          </a:p>
        </p:txBody>
      </p:sp>
      <p:sp>
        <p:nvSpPr>
          <p:cNvPr id="13" name="Shape 6"/>
          <p:cNvSpPr/>
          <p:nvPr/>
        </p:nvSpPr>
        <p:spPr>
          <a:xfrm>
            <a:off x="838200" y="3671031"/>
            <a:ext cx="54864" cy="47548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4" name="Text 7"/>
          <p:cNvSpPr/>
          <p:nvPr/>
        </p:nvSpPr>
        <p:spPr>
          <a:xfrm>
            <a:off x="1039368" y="3652743"/>
            <a:ext cx="8092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2060"/>
                </a:solidFill>
              </a:rPr>
              <a:t>Real-world evidence shows AI reduces breach detection time and false positives significantly</a:t>
            </a:r>
          </a:p>
        </p:txBody>
      </p:sp>
      <p:sp>
        <p:nvSpPr>
          <p:cNvPr id="15" name="Shape 8"/>
          <p:cNvSpPr/>
          <p:nvPr/>
        </p:nvSpPr>
        <p:spPr>
          <a:xfrm>
            <a:off x="838200" y="4338543"/>
            <a:ext cx="54864" cy="47548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6" name="Text 9"/>
          <p:cNvSpPr/>
          <p:nvPr/>
        </p:nvSpPr>
        <p:spPr>
          <a:xfrm>
            <a:off x="1039368" y="4320255"/>
            <a:ext cx="8092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2060"/>
                </a:solidFill>
              </a:rPr>
              <a:t>Challenges remain — adversarial ML, explainability, and cost keep AI security out of reach for many organisations</a:t>
            </a:r>
          </a:p>
        </p:txBody>
      </p:sp>
      <p:sp>
        <p:nvSpPr>
          <p:cNvPr id="17" name="Shape 10"/>
          <p:cNvSpPr/>
          <p:nvPr/>
        </p:nvSpPr>
        <p:spPr>
          <a:xfrm>
            <a:off x="838200" y="5006055"/>
            <a:ext cx="54864" cy="47548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8" name="Text 11"/>
          <p:cNvSpPr/>
          <p:nvPr/>
        </p:nvSpPr>
        <p:spPr>
          <a:xfrm>
            <a:off x="1039368" y="4987767"/>
            <a:ext cx="8092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2060"/>
                </a:solidFill>
              </a:rPr>
              <a:t>India faces growing threats — AIIMS, IRCTC, UPI infrastructure are high-value targets requiring AI-native defence</a:t>
            </a:r>
          </a:p>
        </p:txBody>
      </p:sp>
      <p:sp>
        <p:nvSpPr>
          <p:cNvPr id="19" name="Shape 12"/>
          <p:cNvSpPr/>
          <p:nvPr/>
        </p:nvSpPr>
        <p:spPr>
          <a:xfrm>
            <a:off x="838200" y="5673567"/>
            <a:ext cx="54864" cy="47548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0" name="Text 13"/>
          <p:cNvSpPr/>
          <p:nvPr/>
        </p:nvSpPr>
        <p:spPr>
          <a:xfrm>
            <a:off x="1039368" y="5655279"/>
            <a:ext cx="8092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2060"/>
                </a:solidFill>
              </a:rPr>
              <a:t>As future CS professionals, understanding both sides of AI in security is not optional — it's essential</a:t>
            </a:r>
          </a:p>
        </p:txBody>
      </p:sp>
    </p:spTree>
    <p:extLst>
      <p:ext uri="{BB962C8B-B14F-4D97-AF65-F5344CB8AC3E}">
        <p14:creationId xmlns:p14="http://schemas.microsoft.com/office/powerpoint/2010/main" val="3706831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D0494-B5F3-145A-E70C-5ECFB091A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312EC2-6E27-C332-456E-7083DEC41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CF275-3B26-4683-A5E0-2047E693BFCA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62FDB6-5862-D327-E259-B341AF304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3672-A5C7-4E13-8CD6-E741C07F6029}" type="slidenum">
              <a:rPr lang="en-US" smtClean="0"/>
              <a:pPr/>
              <a:t>11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C12F7CB-B725-B2FC-B031-1620856F2E97}"/>
              </a:ext>
            </a:extLst>
          </p:cNvPr>
          <p:cNvCxnSpPr>
            <a:cxnSpLocks/>
          </p:cNvCxnSpPr>
          <p:nvPr/>
        </p:nvCxnSpPr>
        <p:spPr>
          <a:xfrm>
            <a:off x="2258060" y="1280160"/>
            <a:ext cx="993394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BC621058-1552-CD55-02B8-BAC546F71A64}"/>
              </a:ext>
            </a:extLst>
          </p:cNvPr>
          <p:cNvSpPr txBox="1">
            <a:spLocks/>
          </p:cNvSpPr>
          <p:nvPr/>
        </p:nvSpPr>
        <p:spPr bwMode="auto">
          <a:xfrm>
            <a:off x="4594787" y="1777784"/>
            <a:ext cx="3002425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</a:t>
            </a:r>
            <a:endParaRPr lang="en-IN" altLang="en-US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44117E-E875-AA58-DD23-BF68E30A31C4}"/>
              </a:ext>
            </a:extLst>
          </p:cNvPr>
          <p:cNvSpPr txBox="1"/>
          <p:nvPr/>
        </p:nvSpPr>
        <p:spPr>
          <a:xfrm>
            <a:off x="2174239" y="241758"/>
            <a:ext cx="91846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BABU BANARASI DAS UNIVERSITY ,LUCKNOW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APPLICATION (DS &amp; AI)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22CF8C2-E5B3-FB42-F07F-F3609EF621E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305" y="57153"/>
            <a:ext cx="1371599" cy="1371599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174239" y="1259840"/>
            <a:ext cx="9144000" cy="64008"/>
          </a:xfrm>
          <a:prstGeom prst="rect">
            <a:avLst/>
          </a:prstGeom>
          <a:solidFill>
            <a:srgbClr val="0F2D52"/>
          </a:solidFill>
          <a:ln/>
        </p:spPr>
      </p:sp>
      <p:sp>
        <p:nvSpPr>
          <p:cNvPr id="7" name="Text 2"/>
          <p:cNvSpPr/>
          <p:nvPr/>
        </p:nvSpPr>
        <p:spPr>
          <a:xfrm>
            <a:off x="553720" y="3155696"/>
            <a:ext cx="5542280" cy="2368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[1]  Cybersecurity Ventures. (2023). Cybercrime To Cost The World $8 Trillion In 2023.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</a:rPr>
              <a:t>[2]  Onfido. (2023). Identity Fraud Report — 3000% Rise in Deepfake Attempts.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[3]  Zscaler ThreatLabz. (2023). State of Phishing Report 2023.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</a:rPr>
              <a:t>[4]  SlashNext. (2023). The State of Phishing Report — AI-Generated Phishing.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[5]  Reuters. (Feb 2024). HK Firm Loses $25.6M to Deepfake CFO Video Call.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</a:rPr>
              <a:t>[6]  IBM Security. (2023). Cost of a Data Breach Report 2023.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[7]  CERT-In. (2022). AIIMS Delhi Ransomware Incident Advisory.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6385560" y="3059186"/>
            <a:ext cx="6990080" cy="2511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[8]  MGM Resorts International. (2023). SEC 8-K Filing — Cybersecurity Incident.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</a:rPr>
              <a:t>[9]  Darktrace. (2023). Annual Threat Report — AI Cyber Threats.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[10] CrowdStrike. (2024). Global Threat Report 2024.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</a:rPr>
              <a:t>[11] NIST. (2024). Post-Quantum Cryptography Standardisation — FIPS 203/204/205.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[12] ISC2. (2023). Cybersecurity Workforce Study — 3.4M Job Gap.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</a:rPr>
              <a:t>[13] MarketsandMarkets. (2022). Cybersecurity Market Size Forecast 2022–2027.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[14] Gartner. (2024). Predicts 2024: AI in Security Operations.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60023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62A77-06CC-A860-DCAD-0714D1584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CF275-3B26-4683-A5E0-2047E693BFCA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2EF732-BB47-FBAF-2709-58946D6CE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F3672-A5C7-4E13-8CD6-E741C07F6029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CB97FB-3925-A375-EE4F-753C0168C59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305" y="57153"/>
            <a:ext cx="1371599" cy="13715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66F75D-11E2-6A78-9581-403E7869E8B7}"/>
              </a:ext>
            </a:extLst>
          </p:cNvPr>
          <p:cNvSpPr txBox="1"/>
          <p:nvPr/>
        </p:nvSpPr>
        <p:spPr>
          <a:xfrm>
            <a:off x="2174239" y="241758"/>
            <a:ext cx="91846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BABU BANARASI DAS UNIVERSITY ,LUCKNOW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APPLICATION (DS &amp; AI)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C35148-51D2-0DFE-33ED-8FCFB5FEA5CC}"/>
              </a:ext>
            </a:extLst>
          </p:cNvPr>
          <p:cNvCxnSpPr>
            <a:cxnSpLocks/>
          </p:cNvCxnSpPr>
          <p:nvPr/>
        </p:nvCxnSpPr>
        <p:spPr>
          <a:xfrm>
            <a:off x="2258060" y="1280160"/>
            <a:ext cx="993394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3734254-365D-FB16-B75B-6D009B962C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633912" y="2166937"/>
            <a:ext cx="2924175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478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62828"/>
        </a:solidFill>
        <a:ln/>
      </a:spPr>
      <a:bodyPr/>
      <a:lstStyle/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1716</Words>
  <Application>Microsoft Office PowerPoint</Application>
  <PresentationFormat>Widescreen</PresentationFormat>
  <Paragraphs>219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Baskerville Old Face</vt:lpstr>
      <vt:lpstr>Calibri</vt:lpstr>
      <vt:lpstr>Calibri Light</vt:lpstr>
      <vt:lpstr>Cambria</vt:lpstr>
      <vt:lpstr>Gelasio Semi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Presentation on (Title)</dc:title>
  <dc:creator>Virat Singh</dc:creator>
  <cp:lastModifiedBy>Ujjawal Kumar</cp:lastModifiedBy>
  <cp:revision>9</cp:revision>
  <dcterms:created xsi:type="dcterms:W3CDTF">2025-11-14T11:31:55Z</dcterms:created>
  <dcterms:modified xsi:type="dcterms:W3CDTF">2026-04-24T05:56:23Z</dcterms:modified>
</cp:coreProperties>
</file>